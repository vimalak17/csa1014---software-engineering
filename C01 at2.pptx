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This presentation walks through an Agile sprint-planning and user-story workshop for an Intelligent EV Charging Network Management System — from industry context and problem statement, through epics, user stories, backlog and sprint planning, to the expected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EV adoption is accelerating, but charging infrastructure and its visibility lag behind. Drivers face long, unpredictable waits, and operators lack a unified view. That gap is what a smart, AI- and IoT-driven charging management system addresses.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breaks into five capabilities shown as a pipeline: monitoring feeds prediction, tracking and health checks, and everything surfaces through notifications. The workflow ribbon shows the data path from IoT sensors to real-time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vision, then the five objectives as a SmartArt-style icon grid. The sixth tile ties them together: each objective serves the single goal of a smart, sustainable charging ecosystem.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stakeholders, each with a role, responsibilities and a core challenge. The hub-and-spoke diagram shows that all of them connect through one central charging platform — which is what the system provides.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epics laid out as an Agile roadmap on a timeline spine. Each epic is a large body of work that will later be broken into user stories; the numbering suggests a rough delivery order across sprints.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stories in the standard Agile format — As a [role], I want [goal], so that [benefit]. Presented as story cards, colour-coded and grouped by driver, administrator and maintenance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Acceptance criteria make each story testable. Explain the Given–When–Then structure, then read one row — registration is a good example — to show how it converts a story into a pass/fail check for the sprint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backlog, ordered by priority and colour-coded — red high, orange medium, green low. High-value access and monitoring features sit at the top; reporting and maintenance are lower priority. Story points hint at relative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sprint backlog on a Scrum task board. Four core tasks move across To Do, In Progress and Done. This is a snapshot mid-sprint: registration is complete, login is under way, and monitoring and availability are queued.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Agile teams estimate in Fibonacci points rather than hours: the widening gaps force a clear decision between, say, a 5 and an 8, capturing rising uncertainty. Walk the table — reservation and prediction are the heaviest at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sprint goal narrows to authentication plus real-time monitoring. Seven concrete deliverables are shown as an icon grid, and the milestone timeline sketches how the two-week sprint is phased from setup to test-and-review.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Scrum workflow as a serpentine flowchart: requirements become a backlog, sprint planning produces a sprint backlog, development and testing yield a review and retrospective, and the loop delivers a product increment — then repeats.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expected outcomes in an infographic grid. The through-line: less waiting, better utilisation and energy use, happier customers, faster maintenance — all adding up to a smart, sustainable charging ecosystem.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four takeaways: Agile improves management, sprint planning prioritises, user stories keep customer focus, and the smart charging system cuts waiting and optimises energy. Thank the panel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png"/><Relationship Id="rId7" Type="http://schemas.openxmlformats.org/officeDocument/2006/relationships/image" Target="../media/image15.png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29.png"/><Relationship Id="rId3" Type="http://schemas.openxmlformats.org/officeDocument/2006/relationships/image" Target="../media/image11.png"/><Relationship Id="rId2" Type="http://schemas.openxmlformats.org/officeDocument/2006/relationships/image" Target="../media/image23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.png"/><Relationship Id="rId4" Type="http://schemas.openxmlformats.org/officeDocument/2006/relationships/image" Target="../media/image11.png"/><Relationship Id="rId3" Type="http://schemas.openxmlformats.org/officeDocument/2006/relationships/image" Target="../media/image36.png"/><Relationship Id="rId2" Type="http://schemas.openxmlformats.org/officeDocument/2006/relationships/image" Target="../media/image29.pn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13.png"/><Relationship Id="rId3" Type="http://schemas.openxmlformats.org/officeDocument/2006/relationships/image" Target="../media/image41.png"/><Relationship Id="rId2" Type="http://schemas.openxmlformats.org/officeDocument/2006/relationships/image" Target="../media/image18.png"/><Relationship Id="rId1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0.png"/><Relationship Id="rId3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326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E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CO1-AT2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Agile Sprint Planning and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Story Workshop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F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Electric Vehicle Charging Network Management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3886200"/>
            <a:ext cx="566928" cy="566928"/>
          </a:xfrm>
          <a:prstGeom prst="ellipse">
            <a:avLst/>
          </a:prstGeom>
          <a:solidFill>
            <a:srgbClr val="17466E"/>
          </a:solidFill>
        </p:spPr>
      </p:sp>
      <p:pic>
        <p:nvPicPr>
          <p:cNvPr id="6" name="Image 0" descr="icons/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81" y="4033601"/>
            <a:ext cx="272125" cy="272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09928" y="3886200"/>
            <a:ext cx="566928" cy="566928"/>
          </a:xfrm>
          <a:prstGeom prst="ellipse">
            <a:avLst/>
          </a:prstGeom>
          <a:solidFill>
            <a:srgbClr val="17466E"/>
          </a:solidFill>
        </p:spPr>
      </p:sp>
      <p:pic>
        <p:nvPicPr>
          <p:cNvPr id="8" name="Image 1" descr="icons/char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29" y="4033601"/>
            <a:ext cx="272125" cy="2721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51176" y="3886200"/>
            <a:ext cx="566928" cy="566928"/>
          </a:xfrm>
          <a:prstGeom prst="ellipse">
            <a:avLst/>
          </a:prstGeom>
          <a:solidFill>
            <a:srgbClr val="17466E"/>
          </a:solidFill>
        </p:spPr>
      </p:sp>
      <p:pic>
        <p:nvPicPr>
          <p:cNvPr id="10" name="Image 2" descr="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8577" y="4033601"/>
            <a:ext cx="272125" cy="27212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392424" y="3886200"/>
            <a:ext cx="566928" cy="566928"/>
          </a:xfrm>
          <a:prstGeom prst="ellipse">
            <a:avLst/>
          </a:prstGeom>
          <a:solidFill>
            <a:srgbClr val="17466E"/>
          </a:solidFill>
        </p:spPr>
      </p:sp>
      <p:pic>
        <p:nvPicPr>
          <p:cNvPr id="12" name="Image 3" descr="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9825" y="4033601"/>
            <a:ext cx="272125" cy="27212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233672" y="3886200"/>
            <a:ext cx="566928" cy="566928"/>
          </a:xfrm>
          <a:prstGeom prst="ellipse">
            <a:avLst/>
          </a:prstGeom>
          <a:solidFill>
            <a:srgbClr val="17466E"/>
          </a:solidFill>
        </p:spPr>
      </p:sp>
      <p:pic>
        <p:nvPicPr>
          <p:cNvPr id="14" name="Image 4" descr="icons/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073" y="4033601"/>
            <a:ext cx="272125" cy="27212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074920" y="3886200"/>
            <a:ext cx="566928" cy="566928"/>
          </a:xfrm>
          <a:prstGeom prst="ellipse">
            <a:avLst/>
          </a:prstGeom>
          <a:solidFill>
            <a:srgbClr val="17466E"/>
          </a:solidFill>
        </p:spPr>
      </p:sp>
      <p:pic>
        <p:nvPicPr>
          <p:cNvPr id="16" name="Image 5" descr="icons/lea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2321" y="4033601"/>
            <a:ext cx="272125" cy="272125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822960" y="4800600"/>
            <a:ext cx="10515600" cy="1824990"/>
          </a:xfrm>
          <a:prstGeom prst="roundRect">
            <a:avLst>
              <a:gd name="adj" fmla="val 4571"/>
            </a:avLst>
          </a:prstGeom>
          <a:solidFill>
            <a:srgbClr val="0C2947"/>
          </a:solidFill>
          <a:ln w="12700">
            <a:solidFill>
              <a:srgbClr val="1C4A72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1097280" y="4956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3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Student:  VIMALA K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1097280" y="523036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3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Number:  192424276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1097280" y="550468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3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Department: 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Artificial Intelligence and Data Science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1097280" y="57790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3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College: 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Saveetha School of Engineering, SIMATS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1097280" y="605332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3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Course:  CSA1014 Software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3" name="Image 0" descr="icons/c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1036289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Context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740664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517904"/>
            <a:ext cx="530352" cy="530352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7" name="Image 1" descr="icons/c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124" y="1655796"/>
            <a:ext cx="254569" cy="2545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37160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Rapid EV growth  —  </a:t>
            </a:r>
            <a:r>
              <a:rPr lang="en-US" sz="13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Electric-vehicle adoption is rising sharply, driven by cost, policy and sustainability goals.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304288"/>
            <a:ext cx="740664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13232" y="2450592"/>
            <a:ext cx="530352" cy="530352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11" name="Image 2" descr="icons/char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24" y="2588484"/>
            <a:ext cx="254569" cy="2545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2304288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Charging demand  —  </a:t>
            </a:r>
            <a:r>
              <a:rPr lang="en-US" sz="13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and workplace charging demand is outpacing the rollout of new charging infrastructure.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48640" y="3236976"/>
            <a:ext cx="740664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13232" y="3383280"/>
            <a:ext cx="530352" cy="530352"/>
          </a:xfrm>
          <a:prstGeom prst="ellipse">
            <a:avLst/>
          </a:prstGeom>
          <a:solidFill>
            <a:srgbClr val="B4530A"/>
          </a:solidFill>
        </p:spPr>
      </p:sp>
      <p:pic>
        <p:nvPicPr>
          <p:cNvPr id="15" name="Image 3" descr="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4" y="3521172"/>
            <a:ext cx="254569" cy="25456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3236976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 waiting times  —  </a:t>
            </a:r>
            <a:r>
              <a:rPr lang="en-US" sz="13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Drivers queue at busy stations with no reliable way to know how long they will wait.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548640" y="4169664"/>
            <a:ext cx="740664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13232" y="4315968"/>
            <a:ext cx="530352" cy="530352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19" name="Image 4" descr="icons/eyesl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124" y="4453860"/>
            <a:ext cx="254569" cy="25456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17320" y="4169664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Poor charger visibility  —  </a:t>
            </a:r>
            <a:r>
              <a:rPr lang="en-US" sz="13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availability, location and status of chargers are rarely visible to drivers.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548640" y="5102352"/>
            <a:ext cx="740664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13232" y="5248656"/>
            <a:ext cx="530352" cy="530352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23" name="Image 5" descr="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124" y="5386548"/>
            <a:ext cx="254569" cy="25456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17320" y="5102352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for smart management  —  </a:t>
            </a:r>
            <a:r>
              <a:rPr lang="en-US" sz="13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and IoT can monitor, predict and optimise charging across the whole network.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8183880" y="1371600"/>
            <a:ext cx="3456432" cy="4663440"/>
          </a:xfrm>
          <a:prstGeom prst="roundRect">
            <a:avLst>
              <a:gd name="adj" fmla="val 2116"/>
            </a:avLst>
          </a:prstGeom>
          <a:solidFill>
            <a:srgbClr val="EAF4EF"/>
          </a:solidFill>
          <a:ln w="12700">
            <a:solidFill>
              <a:srgbClr val="BFE0D2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9454896" y="1783080"/>
            <a:ext cx="914400" cy="914400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27" name="Image 6" descr="icons/char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020824"/>
            <a:ext cx="438912" cy="43891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321040" y="27889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5A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EV Charging Station</a:t>
            </a:r>
            <a:endParaRPr lang="en-US" sz="1500" dirty="0"/>
          </a:p>
        </p:txBody>
      </p:sp>
      <p:sp>
        <p:nvSpPr>
          <p:cNvPr id="29" name="Shape 20"/>
          <p:cNvSpPr/>
          <p:nvPr/>
        </p:nvSpPr>
        <p:spPr>
          <a:xfrm>
            <a:off x="8549640" y="3291840"/>
            <a:ext cx="457200" cy="457200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30" name="Image 7" descr="icons/c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2" y="3410712"/>
            <a:ext cx="219456" cy="21945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9144000" y="32918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Connected EVs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8549640" y="3950208"/>
            <a:ext cx="457200" cy="457200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33" name="Image 8" descr="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4069080"/>
            <a:ext cx="219456" cy="219456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9144000" y="395020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prediction</a:t>
            </a:r>
            <a:endParaRPr lang="en-US" sz="1300" dirty="0"/>
          </a:p>
        </p:txBody>
      </p:sp>
      <p:sp>
        <p:nvSpPr>
          <p:cNvPr id="35" name="Shape 24"/>
          <p:cNvSpPr/>
          <p:nvPr/>
        </p:nvSpPr>
        <p:spPr>
          <a:xfrm>
            <a:off x="8549640" y="4608576"/>
            <a:ext cx="457200" cy="457200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36" name="Image 9" descr="icons/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8512" y="4727448"/>
            <a:ext cx="219456" cy="219456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9144000" y="4608576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sensors</a:t>
            </a:r>
            <a:endParaRPr lang="en-US" sz="1300" dirty="0"/>
          </a:p>
        </p:txBody>
      </p:sp>
      <p:sp>
        <p:nvSpPr>
          <p:cNvPr id="38" name="Shape 26"/>
          <p:cNvSpPr/>
          <p:nvPr/>
        </p:nvSpPr>
        <p:spPr>
          <a:xfrm>
            <a:off x="8549640" y="5266944"/>
            <a:ext cx="457200" cy="457200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39" name="Image 10" descr="icons/lea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8512" y="5385816"/>
            <a:ext cx="219456" cy="219456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9144000" y="5266944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energy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B4530A"/>
          </a:solidFill>
        </p:spPr>
      </p:sp>
      <p:pic>
        <p:nvPicPr>
          <p:cNvPr id="3" name="Image 0" descr="icons/targ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1036289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must address five interconnected capabilities, each feeding the next: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911096" cy="1965960"/>
          </a:xfrm>
          <a:prstGeom prst="roundRect">
            <a:avLst>
              <a:gd name="adj" fmla="val 3828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0140" y="2423160"/>
            <a:ext cx="768096" cy="768096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8" name="Image 1" descr="icons/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845" y="2622865"/>
            <a:ext cx="368686" cy="3686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319272"/>
            <a:ext cx="172821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</a:t>
            </a:r>
            <a:endParaRPr lang="en-US" sz="14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Charger Monitoring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1357884" y="2020824"/>
            <a:ext cx="292608" cy="292608"/>
          </a:xfrm>
          <a:prstGeom prst="ellipse">
            <a:avLst/>
          </a:prstGeom>
          <a:solidFill>
            <a:srgbClr val="1F6FB2"/>
          </a:solidFill>
        </p:spPr>
      </p:sp>
      <p:sp>
        <p:nvSpPr>
          <p:cNvPr id="11" name="Text 7"/>
          <p:cNvSpPr/>
          <p:nvPr/>
        </p:nvSpPr>
        <p:spPr>
          <a:xfrm>
            <a:off x="1357884" y="202082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505456" y="3031236"/>
            <a:ext cx="292608" cy="201168"/>
          </a:xfrm>
          <a:prstGeom prst="rightArrow">
            <a:avLst/>
          </a:prstGeom>
          <a:solidFill>
            <a:srgbClr val="9BB4C6"/>
          </a:solidFill>
          <a:ln w="12700">
            <a:solidFill>
              <a:srgbClr val="9BB4C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843784" y="2148840"/>
            <a:ext cx="1911096" cy="1965960"/>
          </a:xfrm>
          <a:prstGeom prst="roundRect">
            <a:avLst>
              <a:gd name="adj" fmla="val 3828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15284" y="2423160"/>
            <a:ext cx="768096" cy="768096"/>
          </a:xfrm>
          <a:prstGeom prst="ellipse">
            <a:avLst/>
          </a:prstGeom>
          <a:solidFill>
            <a:srgbClr val="B4530A"/>
          </a:solidFill>
        </p:spPr>
      </p:sp>
      <p:pic>
        <p:nvPicPr>
          <p:cNvPr id="15" name="Image 2" descr="icons/hourg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989" y="2622865"/>
            <a:ext cx="368686" cy="3686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35224" y="3319272"/>
            <a:ext cx="172821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Waiting Time</a:t>
            </a:r>
            <a:endParaRPr lang="en-US" sz="14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3653028" y="2020824"/>
            <a:ext cx="292608" cy="292608"/>
          </a:xfrm>
          <a:prstGeom prst="ellipse">
            <a:avLst/>
          </a:prstGeom>
          <a:solidFill>
            <a:srgbClr val="B4530A"/>
          </a:solidFill>
        </p:spPr>
      </p:sp>
      <p:sp>
        <p:nvSpPr>
          <p:cNvPr id="18" name="Text 13"/>
          <p:cNvSpPr/>
          <p:nvPr/>
        </p:nvSpPr>
        <p:spPr>
          <a:xfrm>
            <a:off x="3653028" y="202082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00600" y="3031236"/>
            <a:ext cx="292608" cy="201168"/>
          </a:xfrm>
          <a:prstGeom prst="rightArrow">
            <a:avLst/>
          </a:prstGeom>
          <a:solidFill>
            <a:srgbClr val="9BB4C6"/>
          </a:solidFill>
          <a:ln w="12700">
            <a:solidFill>
              <a:srgbClr val="9BB4C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138928" y="2148840"/>
            <a:ext cx="1911096" cy="1965960"/>
          </a:xfrm>
          <a:prstGeom prst="roundRect">
            <a:avLst>
              <a:gd name="adj" fmla="val 3828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10428" y="2423160"/>
            <a:ext cx="768096" cy="768096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22" name="Image 3" descr="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133" y="2622865"/>
            <a:ext cx="368686" cy="36868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30368" y="3319272"/>
            <a:ext cx="172821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Energy</a:t>
            </a:r>
            <a:endParaRPr lang="en-US" sz="14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Consumption Tracking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5948172" y="2020824"/>
            <a:ext cx="292608" cy="292608"/>
          </a:xfrm>
          <a:prstGeom prst="ellipse">
            <a:avLst/>
          </a:prstGeom>
          <a:solidFill>
            <a:srgbClr val="0F8A6A"/>
          </a:solidFill>
        </p:spPr>
      </p:sp>
      <p:sp>
        <p:nvSpPr>
          <p:cNvPr id="25" name="Text 19"/>
          <p:cNvSpPr/>
          <p:nvPr/>
        </p:nvSpPr>
        <p:spPr>
          <a:xfrm>
            <a:off x="5948172" y="202082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095744" y="3031236"/>
            <a:ext cx="292608" cy="201168"/>
          </a:xfrm>
          <a:prstGeom prst="rightArrow">
            <a:avLst/>
          </a:prstGeom>
          <a:solidFill>
            <a:srgbClr val="9BB4C6"/>
          </a:solidFill>
          <a:ln w="12700">
            <a:solidFill>
              <a:srgbClr val="9BB4C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434072" y="2148840"/>
            <a:ext cx="1911096" cy="1965960"/>
          </a:xfrm>
          <a:prstGeom prst="roundRect">
            <a:avLst>
              <a:gd name="adj" fmla="val 3828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005572" y="2423160"/>
            <a:ext cx="768096" cy="768096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29" name="Image 4" descr="icons/wr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277" y="2622865"/>
            <a:ext cx="368686" cy="36868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525512" y="3319272"/>
            <a:ext cx="172821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Charger Health</a:t>
            </a:r>
            <a:endParaRPr lang="en-US" sz="14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</a:t>
            </a:r>
            <a:endParaRPr lang="en-US" sz="1450" dirty="0"/>
          </a:p>
        </p:txBody>
      </p:sp>
      <p:sp>
        <p:nvSpPr>
          <p:cNvPr id="31" name="Shape 24"/>
          <p:cNvSpPr/>
          <p:nvPr/>
        </p:nvSpPr>
        <p:spPr>
          <a:xfrm>
            <a:off x="8243316" y="2020824"/>
            <a:ext cx="292608" cy="292608"/>
          </a:xfrm>
          <a:prstGeom prst="ellipse">
            <a:avLst/>
          </a:prstGeom>
          <a:solidFill>
            <a:srgbClr val="1F6FB2"/>
          </a:solidFill>
        </p:spPr>
      </p:sp>
      <p:sp>
        <p:nvSpPr>
          <p:cNvPr id="32" name="Text 25"/>
          <p:cNvSpPr/>
          <p:nvPr/>
        </p:nvSpPr>
        <p:spPr>
          <a:xfrm>
            <a:off x="8243316" y="202082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9390888" y="3031236"/>
            <a:ext cx="292608" cy="201168"/>
          </a:xfrm>
          <a:prstGeom prst="rightArrow">
            <a:avLst/>
          </a:prstGeom>
          <a:solidFill>
            <a:srgbClr val="9BB4C6"/>
          </a:solidFill>
          <a:ln w="12700">
            <a:solidFill>
              <a:srgbClr val="9BB4C6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729216" y="2148840"/>
            <a:ext cx="1911096" cy="1965960"/>
          </a:xfrm>
          <a:prstGeom prst="roundRect">
            <a:avLst>
              <a:gd name="adj" fmla="val 3828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300716" y="2423160"/>
            <a:ext cx="768096" cy="768096"/>
          </a:xfrm>
          <a:prstGeom prst="ellipse">
            <a:avLst/>
          </a:prstGeom>
          <a:solidFill>
            <a:srgbClr val="B4530A"/>
          </a:solidFill>
        </p:spPr>
      </p:sp>
      <p:pic>
        <p:nvPicPr>
          <p:cNvPr id="36" name="Image 5" descr="icons/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0421" y="2622865"/>
            <a:ext cx="368686" cy="36868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820656" y="3319272"/>
            <a:ext cx="172821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</a:t>
            </a:r>
            <a:endParaRPr lang="en-US" sz="14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1450" dirty="0"/>
          </a:p>
        </p:txBody>
      </p:sp>
      <p:sp>
        <p:nvSpPr>
          <p:cNvPr id="38" name="Shape 30"/>
          <p:cNvSpPr/>
          <p:nvPr/>
        </p:nvSpPr>
        <p:spPr>
          <a:xfrm>
            <a:off x="10538460" y="2020824"/>
            <a:ext cx="292608" cy="292608"/>
          </a:xfrm>
          <a:prstGeom prst="ellipse">
            <a:avLst/>
          </a:prstGeom>
          <a:solidFill>
            <a:srgbClr val="B4530A"/>
          </a:solidFill>
        </p:spPr>
      </p:sp>
      <p:sp>
        <p:nvSpPr>
          <p:cNvPr id="39" name="Text 31"/>
          <p:cNvSpPr/>
          <p:nvPr/>
        </p:nvSpPr>
        <p:spPr>
          <a:xfrm>
            <a:off x="10538460" y="202082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EAF4EF"/>
          </a:solidFill>
          <a:ln w="12700">
            <a:solidFill>
              <a:srgbClr val="BFE0D2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777240" y="464515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A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</a:t>
            </a:r>
            <a:endParaRPr lang="en-US" sz="1400" dirty="0"/>
          </a:p>
        </p:txBody>
      </p:sp>
      <p:sp>
        <p:nvSpPr>
          <p:cNvPr id="42" name="Shape 34"/>
          <p:cNvSpPr/>
          <p:nvPr/>
        </p:nvSpPr>
        <p:spPr>
          <a:xfrm>
            <a:off x="777240" y="5029200"/>
            <a:ext cx="23088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3E0EA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68680" y="5029200"/>
            <a:ext cx="21259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sensors read charger state</a:t>
            </a:r>
            <a:endParaRPr lang="en-US" sz="1150" dirty="0"/>
          </a:p>
        </p:txBody>
      </p:sp>
      <p:sp>
        <p:nvSpPr>
          <p:cNvPr id="44" name="Shape 36"/>
          <p:cNvSpPr/>
          <p:nvPr/>
        </p:nvSpPr>
        <p:spPr>
          <a:xfrm>
            <a:off x="3159252" y="5321808"/>
            <a:ext cx="310896" cy="182880"/>
          </a:xfrm>
          <a:prstGeom prst="rightArrow">
            <a:avLst/>
          </a:prstGeom>
          <a:solidFill>
            <a:srgbClr val="0F8A6A"/>
          </a:solidFill>
          <a:ln w="12700">
            <a:solidFill>
              <a:srgbClr val="0F8A6A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3543300" y="5029200"/>
            <a:ext cx="23088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3E0EA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3634740" y="5029200"/>
            <a:ext cx="21259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streamed to cloud platform</a:t>
            </a:r>
            <a:endParaRPr lang="en-US" sz="1150" dirty="0"/>
          </a:p>
        </p:txBody>
      </p:sp>
      <p:sp>
        <p:nvSpPr>
          <p:cNvPr id="47" name="Shape 39"/>
          <p:cNvSpPr/>
          <p:nvPr/>
        </p:nvSpPr>
        <p:spPr>
          <a:xfrm>
            <a:off x="5925312" y="5321808"/>
            <a:ext cx="310896" cy="182880"/>
          </a:xfrm>
          <a:prstGeom prst="rightArrow">
            <a:avLst/>
          </a:prstGeom>
          <a:solidFill>
            <a:srgbClr val="0F8A6A"/>
          </a:solidFill>
          <a:ln w="12700">
            <a:solidFill>
              <a:srgbClr val="0F8A6A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6309360" y="5029200"/>
            <a:ext cx="23088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3E0EA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6400800" y="5029200"/>
            <a:ext cx="21259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predicts wait &amp; flags faults</a:t>
            </a:r>
            <a:endParaRPr lang="en-US" sz="1150" dirty="0"/>
          </a:p>
        </p:txBody>
      </p:sp>
      <p:sp>
        <p:nvSpPr>
          <p:cNvPr id="50" name="Shape 42"/>
          <p:cNvSpPr/>
          <p:nvPr/>
        </p:nvSpPr>
        <p:spPr>
          <a:xfrm>
            <a:off x="8691372" y="5321808"/>
            <a:ext cx="310896" cy="182880"/>
          </a:xfrm>
          <a:prstGeom prst="rightArrow">
            <a:avLst/>
          </a:prstGeom>
          <a:solidFill>
            <a:srgbClr val="0F8A6A"/>
          </a:solidFill>
          <a:ln w="12700">
            <a:solidFill>
              <a:srgbClr val="0F8A6A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9075420" y="5029200"/>
            <a:ext cx="23088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3E0EA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9166860" y="5029200"/>
            <a:ext cx="21259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Drivers &amp; staff notified in real time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3" name="Image 0" descr="icons/rock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1036289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Vision &amp; Objectives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0E2C4E"/>
          </a:solidFill>
          <a:ln w="12700">
            <a:solidFill>
              <a:srgbClr val="0E2C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41732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8FD3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   </a:t>
            </a: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deliver an intelligent, connected EV-charging network that gives drivers real-time visibility, minimises waiting, and helps operators optimise energy and maintenance across every station.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3602736" cy="1572768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2779776"/>
            <a:ext cx="566928" cy="566928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9" name="Image 1" descr="icons/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09" y="2927177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724912"/>
            <a:ext cx="2505456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charging stations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68096" y="3401568"/>
            <a:ext cx="3182112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live status, availability and usage of every charger in the network.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97680" y="2560320"/>
            <a:ext cx="3602736" cy="1572768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98848" y="2779776"/>
            <a:ext cx="566928" cy="566928"/>
          </a:xfrm>
          <a:prstGeom prst="ellipse">
            <a:avLst/>
          </a:prstGeom>
          <a:solidFill>
            <a:srgbClr val="B4530A"/>
          </a:solidFill>
        </p:spPr>
      </p:sp>
      <p:pic>
        <p:nvPicPr>
          <p:cNvPr id="14" name="Image 2" descr="icons/stop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249" y="2927177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2080" y="2724912"/>
            <a:ext cx="2505456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waiting time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517136" y="3401568"/>
            <a:ext cx="3182112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AI to forecast queue and charge-completion times for each station.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46720" y="2560320"/>
            <a:ext cx="3602736" cy="1572768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47888" y="2779776"/>
            <a:ext cx="566928" cy="566928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19" name="Image 3" descr="icons/sli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289" y="2927177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61120" y="2724912"/>
            <a:ext cx="2505456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Optimise charger allocation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266176" y="3401568"/>
            <a:ext cx="3182112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 drivers to the best available charger to balance network load.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4315968"/>
            <a:ext cx="3602736" cy="1572768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49808" y="4535424"/>
            <a:ext cx="566928" cy="566928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24" name="Image 4" descr="icons/re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09" y="4682825"/>
            <a:ext cx="272125" cy="2721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63040" y="4480560"/>
            <a:ext cx="2505456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energy reports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68096" y="5157216"/>
            <a:ext cx="3182112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 consumption and efficiency reports for administrators.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297680" y="4315968"/>
            <a:ext cx="3602736" cy="1572768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498848" y="4535424"/>
            <a:ext cx="566928" cy="566928"/>
          </a:xfrm>
          <a:prstGeom prst="ellipse">
            <a:avLst/>
          </a:prstGeom>
          <a:solidFill>
            <a:srgbClr val="B4530A"/>
          </a:solidFill>
        </p:spPr>
      </p:sp>
      <p:pic>
        <p:nvPicPr>
          <p:cNvPr id="29" name="Image 5" descr="icons/sm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6249" y="4682825"/>
            <a:ext cx="272125" cy="27212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12080" y="4480560"/>
            <a:ext cx="2505456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customer satisfaction</a:t>
            </a:r>
            <a:endParaRPr lang="en-US" sz="1450" dirty="0"/>
          </a:p>
        </p:txBody>
      </p:sp>
      <p:sp>
        <p:nvSpPr>
          <p:cNvPr id="31" name="Text 23"/>
          <p:cNvSpPr/>
          <p:nvPr/>
        </p:nvSpPr>
        <p:spPr>
          <a:xfrm>
            <a:off x="4517136" y="5157216"/>
            <a:ext cx="3182112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uncertainty and waiting to deliver a smoother charging experience.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8046720" y="4315968"/>
            <a:ext cx="3602736" cy="1572768"/>
          </a:xfrm>
          <a:prstGeom prst="roundRect">
            <a:avLst>
              <a:gd name="adj" fmla="val 4651"/>
            </a:avLst>
          </a:prstGeom>
          <a:solidFill>
            <a:srgbClr val="EAF4EF"/>
          </a:solidFill>
          <a:ln w="12700">
            <a:solidFill>
              <a:srgbClr val="BFE0D2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247888" y="4535424"/>
            <a:ext cx="566928" cy="566928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34" name="Image 6" descr="icons/lea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5289" y="4682825"/>
            <a:ext cx="272125" cy="272125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961120" y="4480560"/>
            <a:ext cx="2505456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5A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Smart, sustainable charging</a:t>
            </a:r>
            <a:endParaRPr lang="en-US" sz="1450" dirty="0"/>
          </a:p>
        </p:txBody>
      </p:sp>
      <p:sp>
        <p:nvSpPr>
          <p:cNvPr id="36" name="Text 27"/>
          <p:cNvSpPr/>
          <p:nvPr/>
        </p:nvSpPr>
        <p:spPr>
          <a:xfrm>
            <a:off x="8266176" y="5157216"/>
            <a:ext cx="3182112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objective feeds one goal: an efficient, greener charging ecosystem.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3" name="Image 0" descr="icons/us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1036289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Stakeholder Analysis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325880"/>
          <a:ext cx="7360920" cy="4315968"/>
        </p:xfrm>
        <a:graphic>
          <a:graphicData uri="http://schemas.openxmlformats.org/drawingml/2006/table">
            <a:tbl>
              <a:tblPr/>
              <a:tblGrid>
                <a:gridCol w="1417320"/>
                <a:gridCol w="1234440"/>
                <a:gridCol w="2423160"/>
                <a:gridCol w="228600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Stakeholder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Role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Responsibilities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Challenges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5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 Driver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End user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Find, reserve and use chargers; pay for sessions.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Long waits and uncertain charger availability.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Station Operator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Service provider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Run stations; ensure chargers are online and available.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Balancing demand and uptime across sites.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Administrator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 manager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Oversee network, users and energy reports.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Turning raw data into actionable decisions.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Maintenance Team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Support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Diagnose and repair faulty chargers quickly.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Detecting faults early to cut downtime.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Energy Provider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Supplier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Supply and bill electricity to the network.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Managing peak load and grid stability.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325880"/>
            <a:ext cx="3639312" cy="4709160"/>
          </a:xfrm>
          <a:prstGeom prst="roundRect">
            <a:avLst>
              <a:gd name="adj" fmla="val 2010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38160" y="141732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253728" y="3227832"/>
            <a:ext cx="1133856" cy="1133856"/>
          </a:xfrm>
          <a:prstGeom prst="ellipse">
            <a:avLst/>
          </a:prstGeom>
          <a:solidFill>
            <a:srgbClr val="0F8A6A"/>
          </a:solidFill>
        </p:spPr>
      </p:sp>
      <p:sp>
        <p:nvSpPr>
          <p:cNvPr id="9" name="Text 5"/>
          <p:cNvSpPr/>
          <p:nvPr/>
        </p:nvSpPr>
        <p:spPr>
          <a:xfrm>
            <a:off x="9253728" y="3227832"/>
            <a:ext cx="1133856" cy="1133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Charging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 flipV="1">
            <a:off x="9820656" y="2423160"/>
            <a:ext cx="0" cy="1371600"/>
          </a:xfrm>
          <a:prstGeom prst="line">
            <a:avLst/>
          </a:prstGeom>
          <a:noFill/>
          <a:ln w="19050">
            <a:solidFill>
              <a:srgbClr val="9BB4C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546336" y="2148840"/>
            <a:ext cx="548640" cy="548640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12" name="Image 1" descr="icons/d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982" y="229148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272016" y="267919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Driver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 flipH="1" flipV="1">
            <a:off x="8516187" y="3370912"/>
            <a:ext cx="1304469" cy="423848"/>
          </a:xfrm>
          <a:prstGeom prst="line">
            <a:avLst/>
          </a:prstGeom>
          <a:noFill/>
          <a:ln w="19050">
            <a:solidFill>
              <a:srgbClr val="9BB4C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241867" y="3096592"/>
            <a:ext cx="548640" cy="548640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16" name="Image 2" descr="icons/ope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513" y="3239239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67547" y="362694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Operator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 flipH="1">
            <a:off x="9014450" y="3794760"/>
            <a:ext cx="806206" cy="1109648"/>
          </a:xfrm>
          <a:prstGeom prst="line">
            <a:avLst/>
          </a:prstGeom>
          <a:noFill/>
          <a:ln w="19050">
            <a:solidFill>
              <a:srgbClr val="9BB4C6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740130" y="4630088"/>
            <a:ext cx="548640" cy="548640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20" name="Image 3" descr="icons/adm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2776" y="4772734"/>
            <a:ext cx="263347" cy="26334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465810" y="516044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9820656" y="3794760"/>
            <a:ext cx="806206" cy="1109648"/>
          </a:xfrm>
          <a:prstGeom prst="line">
            <a:avLst/>
          </a:prstGeom>
          <a:noFill/>
          <a:ln w="19050">
            <a:solidFill>
              <a:srgbClr val="9BB4C6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0352542" y="4630088"/>
            <a:ext cx="548640" cy="548640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24" name="Image 4" descr="icons/ma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5189" y="4772734"/>
            <a:ext cx="263347" cy="263347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78222" y="516044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 flipV="1">
            <a:off x="9820656" y="3370912"/>
            <a:ext cx="1304469" cy="423848"/>
          </a:xfrm>
          <a:prstGeom prst="line">
            <a:avLst/>
          </a:prstGeom>
          <a:noFill/>
          <a:ln w="19050">
            <a:solidFill>
              <a:srgbClr val="9BB4C6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10850805" y="3096592"/>
            <a:ext cx="548640" cy="548640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28" name="Image 5" descr="icons/energ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3452" y="3239239"/>
            <a:ext cx="263347" cy="263347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576485" y="362694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Energy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3" name="Image 0" descr="icons/l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1036289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Epics — Agile Roadmap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69848" y="3794760"/>
            <a:ext cx="347472" cy="347472"/>
          </a:xfrm>
          <a:prstGeom prst="ellipse">
            <a:avLst/>
          </a:prstGeom>
          <a:solidFill>
            <a:srgbClr val="1F6FB2"/>
          </a:solidFill>
        </p:spPr>
      </p:sp>
      <p:sp>
        <p:nvSpPr>
          <p:cNvPr id="6" name="Text 3"/>
          <p:cNvSpPr/>
          <p:nvPr/>
        </p:nvSpPr>
        <p:spPr>
          <a:xfrm>
            <a:off x="1069848" y="37947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1481328" cy="1737360"/>
          </a:xfrm>
          <a:prstGeom prst="roundRect">
            <a:avLst>
              <a:gd name="adj" fmla="val 4938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50976" y="1929384"/>
            <a:ext cx="585216" cy="585216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9" name="Image 1" descr="icons/d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132" y="2081540"/>
            <a:ext cx="280904" cy="2809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" y="256032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Management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76072" y="3081528"/>
            <a:ext cx="1335024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Registration, login, profiles and roles.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1243584" y="3520440"/>
            <a:ext cx="914" cy="274320"/>
          </a:xfrm>
          <a:prstGeom prst="line">
            <a:avLst/>
          </a:prstGeom>
          <a:noFill/>
          <a:ln w="17780">
            <a:solidFill>
              <a:srgbClr val="9BB4C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686812" y="3794760"/>
            <a:ext cx="347472" cy="347472"/>
          </a:xfrm>
          <a:prstGeom prst="ellipse">
            <a:avLst/>
          </a:prstGeom>
          <a:solidFill>
            <a:srgbClr val="0F8A6A"/>
          </a:solidFill>
        </p:spPr>
      </p:sp>
      <p:sp>
        <p:nvSpPr>
          <p:cNvPr id="14" name="Text 10"/>
          <p:cNvSpPr/>
          <p:nvPr/>
        </p:nvSpPr>
        <p:spPr>
          <a:xfrm>
            <a:off x="2686812" y="37947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119884" y="4343400"/>
            <a:ext cx="1481328" cy="1737360"/>
          </a:xfrm>
          <a:prstGeom prst="roundRect">
            <a:avLst>
              <a:gd name="adj" fmla="val 4938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567940" y="4489704"/>
            <a:ext cx="585216" cy="585216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17" name="Image 2" descr="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096" y="4641860"/>
            <a:ext cx="280904" cy="280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74748" y="512064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Charging Station Monitoring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2193036" y="5641848"/>
            <a:ext cx="1335024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status and availability of chargers.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2860548" y="4142232"/>
            <a:ext cx="914" cy="201168"/>
          </a:xfrm>
          <a:prstGeom prst="line">
            <a:avLst/>
          </a:prstGeom>
          <a:noFill/>
          <a:ln w="17780">
            <a:solidFill>
              <a:srgbClr val="9BB4C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303776" y="3794760"/>
            <a:ext cx="347472" cy="347472"/>
          </a:xfrm>
          <a:prstGeom prst="ellipse">
            <a:avLst/>
          </a:prstGeom>
          <a:solidFill>
            <a:srgbClr val="B4530A"/>
          </a:solidFill>
        </p:spPr>
      </p:sp>
      <p:sp>
        <p:nvSpPr>
          <p:cNvPr id="22" name="Text 17"/>
          <p:cNvSpPr/>
          <p:nvPr/>
        </p:nvSpPr>
        <p:spPr>
          <a:xfrm>
            <a:off x="4303776" y="37947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736848" y="1783080"/>
            <a:ext cx="1481328" cy="1737360"/>
          </a:xfrm>
          <a:prstGeom prst="roundRect">
            <a:avLst>
              <a:gd name="adj" fmla="val 4938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184904" y="1929384"/>
            <a:ext cx="585216" cy="585216"/>
          </a:xfrm>
          <a:prstGeom prst="ellipse">
            <a:avLst/>
          </a:prstGeom>
          <a:solidFill>
            <a:srgbClr val="B4530A"/>
          </a:solidFill>
        </p:spPr>
      </p:sp>
      <p:pic>
        <p:nvPicPr>
          <p:cNvPr id="25" name="Image 3" descr="icons/sign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60" y="2081540"/>
            <a:ext cx="280904" cy="28090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791712" y="256032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Charging Session Management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3810000" y="3081528"/>
            <a:ext cx="1335024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Start, stop and reserve sessions.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477512" y="3520440"/>
            <a:ext cx="914" cy="274320"/>
          </a:xfrm>
          <a:prstGeom prst="line">
            <a:avLst/>
          </a:prstGeom>
          <a:noFill/>
          <a:ln w="17780">
            <a:solidFill>
              <a:srgbClr val="9BB4C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920740" y="3794760"/>
            <a:ext cx="347472" cy="347472"/>
          </a:xfrm>
          <a:prstGeom prst="ellipse">
            <a:avLst/>
          </a:prstGeom>
          <a:solidFill>
            <a:srgbClr val="1F6FB2"/>
          </a:solidFill>
        </p:spPr>
      </p:sp>
      <p:sp>
        <p:nvSpPr>
          <p:cNvPr id="30" name="Text 24"/>
          <p:cNvSpPr/>
          <p:nvPr/>
        </p:nvSpPr>
        <p:spPr>
          <a:xfrm>
            <a:off x="5920740" y="37947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5353812" y="4343400"/>
            <a:ext cx="1481328" cy="1737360"/>
          </a:xfrm>
          <a:prstGeom prst="roundRect">
            <a:avLst>
              <a:gd name="adj" fmla="val 4938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5801868" y="4489704"/>
            <a:ext cx="585216" cy="585216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33" name="Image 4" descr="icons/stopwat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4024" y="4641860"/>
            <a:ext cx="280904" cy="2809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408676" y="512064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Waiting Time Prediction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5426964" y="5641848"/>
            <a:ext cx="1335024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forecasts of queue and charge times.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094476" y="4142232"/>
            <a:ext cx="914" cy="201168"/>
          </a:xfrm>
          <a:prstGeom prst="line">
            <a:avLst/>
          </a:prstGeom>
          <a:noFill/>
          <a:ln w="17780">
            <a:solidFill>
              <a:srgbClr val="9BB4C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537704" y="3794760"/>
            <a:ext cx="347472" cy="347472"/>
          </a:xfrm>
          <a:prstGeom prst="ellipse">
            <a:avLst/>
          </a:prstGeom>
          <a:solidFill>
            <a:srgbClr val="0F8A6A"/>
          </a:solidFill>
        </p:spPr>
      </p:sp>
      <p:sp>
        <p:nvSpPr>
          <p:cNvPr id="38" name="Text 31"/>
          <p:cNvSpPr/>
          <p:nvPr/>
        </p:nvSpPr>
        <p:spPr>
          <a:xfrm>
            <a:off x="7537704" y="37947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6970776" y="1783080"/>
            <a:ext cx="1481328" cy="1737360"/>
          </a:xfrm>
          <a:prstGeom prst="roundRect">
            <a:avLst>
              <a:gd name="adj" fmla="val 4938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7418832" y="1929384"/>
            <a:ext cx="585216" cy="585216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41" name="Image 5" descr="icons/re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0988" y="2081540"/>
            <a:ext cx="280904" cy="28090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025640" y="256032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Energy Reporting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7043928" y="3081528"/>
            <a:ext cx="1335024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Consumption and efficiency analytics.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7711440" y="3520440"/>
            <a:ext cx="914" cy="274320"/>
          </a:xfrm>
          <a:prstGeom prst="line">
            <a:avLst/>
          </a:prstGeom>
          <a:noFill/>
          <a:ln w="17780">
            <a:solidFill>
              <a:srgbClr val="9BB4C6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9154668" y="3794760"/>
            <a:ext cx="347472" cy="347472"/>
          </a:xfrm>
          <a:prstGeom prst="ellipse">
            <a:avLst/>
          </a:prstGeom>
          <a:solidFill>
            <a:srgbClr val="B4530A"/>
          </a:solidFill>
        </p:spPr>
      </p:sp>
      <p:sp>
        <p:nvSpPr>
          <p:cNvPr id="46" name="Text 38"/>
          <p:cNvSpPr/>
          <p:nvPr/>
        </p:nvSpPr>
        <p:spPr>
          <a:xfrm>
            <a:off x="9154668" y="37947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47" name="Shape 39"/>
          <p:cNvSpPr/>
          <p:nvPr/>
        </p:nvSpPr>
        <p:spPr>
          <a:xfrm>
            <a:off x="8587740" y="4343400"/>
            <a:ext cx="1481328" cy="1737360"/>
          </a:xfrm>
          <a:prstGeom prst="roundRect">
            <a:avLst>
              <a:gd name="adj" fmla="val 4938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9035796" y="4489704"/>
            <a:ext cx="585216" cy="585216"/>
          </a:xfrm>
          <a:prstGeom prst="ellipse">
            <a:avLst/>
          </a:prstGeom>
          <a:solidFill>
            <a:srgbClr val="B4530A"/>
          </a:solidFill>
        </p:spPr>
      </p:sp>
      <p:pic>
        <p:nvPicPr>
          <p:cNvPr id="49" name="Image 6" descr="icons/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7952" y="4641860"/>
            <a:ext cx="280904" cy="280904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8642604" y="512064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 System</a:t>
            </a:r>
            <a:endParaRPr lang="en-US" sz="1150" dirty="0"/>
          </a:p>
        </p:txBody>
      </p:sp>
      <p:sp>
        <p:nvSpPr>
          <p:cNvPr id="51" name="Text 42"/>
          <p:cNvSpPr/>
          <p:nvPr/>
        </p:nvSpPr>
        <p:spPr>
          <a:xfrm>
            <a:off x="8660892" y="5641848"/>
            <a:ext cx="1335024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Alerts for availability and faults.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9328404" y="4142232"/>
            <a:ext cx="914" cy="201168"/>
          </a:xfrm>
          <a:prstGeom prst="line">
            <a:avLst/>
          </a:prstGeom>
          <a:noFill/>
          <a:ln w="17780">
            <a:solidFill>
              <a:srgbClr val="9BB4C6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10771632" y="3794760"/>
            <a:ext cx="347472" cy="347472"/>
          </a:xfrm>
          <a:prstGeom prst="ellipse">
            <a:avLst/>
          </a:prstGeom>
          <a:solidFill>
            <a:srgbClr val="1F6FB2"/>
          </a:solidFill>
        </p:spPr>
      </p:sp>
      <p:sp>
        <p:nvSpPr>
          <p:cNvPr id="54" name="Text 45"/>
          <p:cNvSpPr/>
          <p:nvPr/>
        </p:nvSpPr>
        <p:spPr>
          <a:xfrm>
            <a:off x="10771632" y="37947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55" name="Shape 46"/>
          <p:cNvSpPr/>
          <p:nvPr/>
        </p:nvSpPr>
        <p:spPr>
          <a:xfrm>
            <a:off x="10204704" y="1783080"/>
            <a:ext cx="1481328" cy="1737360"/>
          </a:xfrm>
          <a:prstGeom prst="roundRect">
            <a:avLst>
              <a:gd name="adj" fmla="val 4938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56" name="Shape 47"/>
          <p:cNvSpPr/>
          <p:nvPr/>
        </p:nvSpPr>
        <p:spPr>
          <a:xfrm>
            <a:off x="10652760" y="1929384"/>
            <a:ext cx="585216" cy="585216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57" name="Image 7" descr="icons/wren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04916" y="2081540"/>
            <a:ext cx="280904" cy="280904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10259568" y="256032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Maintenance Management</a:t>
            </a:r>
            <a:endParaRPr lang="en-US" sz="1150" dirty="0"/>
          </a:p>
        </p:txBody>
      </p:sp>
      <p:sp>
        <p:nvSpPr>
          <p:cNvPr id="59" name="Text 49"/>
          <p:cNvSpPr/>
          <p:nvPr/>
        </p:nvSpPr>
        <p:spPr>
          <a:xfrm>
            <a:off x="10277856" y="3081528"/>
            <a:ext cx="1335024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Fault detection and repair tracking.</a:t>
            </a:r>
            <a:endParaRPr lang="en-US" sz="900" dirty="0"/>
          </a:p>
        </p:txBody>
      </p:sp>
      <p:sp>
        <p:nvSpPr>
          <p:cNvPr id="60" name="Shape 50"/>
          <p:cNvSpPr/>
          <p:nvPr/>
        </p:nvSpPr>
        <p:spPr>
          <a:xfrm>
            <a:off x="10945368" y="3520440"/>
            <a:ext cx="914" cy="274320"/>
          </a:xfrm>
          <a:prstGeom prst="line">
            <a:avLst/>
          </a:prstGeom>
          <a:noFill/>
          <a:ln w="17780">
            <a:solidFill>
              <a:srgbClr val="9BB4C6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1243584" y="3968496"/>
            <a:ext cx="9701784" cy="914"/>
          </a:xfrm>
          <a:prstGeom prst="line">
            <a:avLst/>
          </a:prstGeom>
          <a:noFill/>
          <a:ln w="25400">
            <a:solidFill>
              <a:srgbClr val="9BB4C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3" name="Image 0" descr="icons/sto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1036289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Stories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37160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1F6FB2"/>
          </a:solidFill>
        </p:spPr>
      </p:sp>
      <p:sp>
        <p:nvSpPr>
          <p:cNvPr id="7" name="Shape 4"/>
          <p:cNvSpPr/>
          <p:nvPr/>
        </p:nvSpPr>
        <p:spPr>
          <a:xfrm>
            <a:off x="548640" y="1664208"/>
            <a:ext cx="3657600" cy="274320"/>
          </a:xfrm>
          <a:prstGeom prst="rect">
            <a:avLst/>
          </a:prstGeom>
          <a:solidFill>
            <a:srgbClr val="1F6FB2"/>
          </a:solidFill>
        </p:spPr>
      </p:sp>
      <p:pic>
        <p:nvPicPr>
          <p:cNvPr id="8" name="Image 1" descr="icons/d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2144" y="1371600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a  EV Driver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68096" y="2121408"/>
            <a:ext cx="32369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want to  </a:t>
            </a: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8096" y="2944368"/>
            <a:ext cx="323697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that I can access charging services.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261104" y="137160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61104" y="137160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0F8A6A"/>
          </a:solidFill>
        </p:spPr>
      </p:sp>
      <p:sp>
        <p:nvSpPr>
          <p:cNvPr id="14" name="Shape 10"/>
          <p:cNvSpPr/>
          <p:nvPr/>
        </p:nvSpPr>
        <p:spPr>
          <a:xfrm>
            <a:off x="4261104" y="1664208"/>
            <a:ext cx="3657600" cy="274320"/>
          </a:xfrm>
          <a:prstGeom prst="rect">
            <a:avLst/>
          </a:prstGeom>
          <a:solidFill>
            <a:srgbClr val="0F8A6A"/>
          </a:solidFill>
        </p:spPr>
      </p:sp>
      <p:pic>
        <p:nvPicPr>
          <p:cNvPr id="15" name="Image 2" descr="icons/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50876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64608" y="1371600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a  EV Driver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480560" y="2121408"/>
            <a:ext cx="32369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want to  </a:t>
            </a: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nearby charging stations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480560" y="2944368"/>
            <a:ext cx="323697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that I can choose the nearest charger.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973568" y="137160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73568" y="137160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B4530A"/>
          </a:solidFill>
        </p:spPr>
      </p:sp>
      <p:sp>
        <p:nvSpPr>
          <p:cNvPr id="21" name="Shape 16"/>
          <p:cNvSpPr/>
          <p:nvPr/>
        </p:nvSpPr>
        <p:spPr>
          <a:xfrm>
            <a:off x="7973568" y="1664208"/>
            <a:ext cx="3657600" cy="274320"/>
          </a:xfrm>
          <a:prstGeom prst="rect">
            <a:avLst/>
          </a:prstGeom>
          <a:solidFill>
            <a:srgbClr val="B4530A"/>
          </a:solidFill>
        </p:spPr>
      </p:sp>
      <p:pic>
        <p:nvPicPr>
          <p:cNvPr id="22" name="Image 3" descr="icons/rese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50876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77072" y="1371600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a  EV Driver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193024" y="2121408"/>
            <a:ext cx="32369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want to  </a:t>
            </a: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reserve a charger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193024" y="2944368"/>
            <a:ext cx="323697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that I don't have to wait.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2404872" y="379476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404872" y="379476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1F6FB2"/>
          </a:solidFill>
        </p:spPr>
      </p:sp>
      <p:sp>
        <p:nvSpPr>
          <p:cNvPr id="28" name="Shape 22"/>
          <p:cNvSpPr/>
          <p:nvPr/>
        </p:nvSpPr>
        <p:spPr>
          <a:xfrm>
            <a:off x="2404872" y="4087368"/>
            <a:ext cx="3657600" cy="274320"/>
          </a:xfrm>
          <a:prstGeom prst="rect">
            <a:avLst/>
          </a:prstGeom>
          <a:solidFill>
            <a:srgbClr val="1F6FB2"/>
          </a:solidFill>
        </p:spPr>
      </p:sp>
      <p:pic>
        <p:nvPicPr>
          <p:cNvPr id="29" name="Image 4" descr="icons/re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752" y="3931920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008376" y="3794760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a  Administrator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2624328" y="4544568"/>
            <a:ext cx="32369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want to  </a:t>
            </a: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energy reports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2624328" y="5367528"/>
            <a:ext cx="323697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that I can monitor electricity usage.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6117336" y="379476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117336" y="379476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B4530A"/>
          </a:solidFill>
        </p:spPr>
      </p:sp>
      <p:sp>
        <p:nvSpPr>
          <p:cNvPr id="35" name="Shape 28"/>
          <p:cNvSpPr/>
          <p:nvPr/>
        </p:nvSpPr>
        <p:spPr>
          <a:xfrm>
            <a:off x="6117336" y="4087368"/>
            <a:ext cx="3657600" cy="274320"/>
          </a:xfrm>
          <a:prstGeom prst="rect">
            <a:avLst/>
          </a:prstGeom>
          <a:solidFill>
            <a:srgbClr val="B4530A"/>
          </a:solidFill>
        </p:spPr>
      </p:sp>
      <p:pic>
        <p:nvPicPr>
          <p:cNvPr id="36" name="Image 5" descr="icons/wre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3931920"/>
            <a:ext cx="292608" cy="2926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720840" y="3794760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a  Maintenance Engineer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6336792" y="4544568"/>
            <a:ext cx="32369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want to  </a:t>
            </a: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 charger fault alerts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336792" y="5367528"/>
            <a:ext cx="323697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that I can repair faulty chargers quickly.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3" name="Image 0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1036289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Acceptance Criteria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EAF4EF"/>
          </a:solidFill>
          <a:ln w="12700">
            <a:solidFill>
              <a:srgbClr val="BFE0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325880"/>
            <a:ext cx="106070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5A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Given–When–Then   </a:t>
            </a:r>
            <a:r>
              <a:rPr lang="en-US" sz="14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 Given a context,  When an action occurs,  Then the system produces a defined, testable outcome.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2286000"/>
          <a:ext cx="11091672" cy="3968496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2770632"/>
                <a:gridCol w="3291840"/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Scenario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Given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5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Registration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 new user on the signup page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they submit valid details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account is created and confirmed.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Login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 registered user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they enter correct credentials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they are granted access to the dashboard.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Charger Availability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 driver viewing the map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they open a station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live availability of each charger is shown.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Reservation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 available charger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driver reserves it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charger is held for that driver.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Waiting Time Prediction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 busy station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driver requests an estimate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 predicted waiting time is displayed.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B4530A"/>
          </a:solidFill>
        </p:spPr>
      </p:sp>
      <p:pic>
        <p:nvPicPr>
          <p:cNvPr id="3" name="Image 0" descr="icons/l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1036289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Backlog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371600"/>
          <a:ext cx="11274552" cy="4901184"/>
        </p:xfrm>
        <a:graphic>
          <a:graphicData uri="http://schemas.openxmlformats.org/drawingml/2006/table">
            <a:tbl>
              <a:tblPr/>
              <a:tblGrid>
                <a:gridCol w="1371600"/>
                <a:gridCol w="2331720"/>
                <a:gridCol w="3246120"/>
                <a:gridCol w="3044952"/>
                <a:gridCol w="128016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Priority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Epic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User Story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Business Value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Story Points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User Management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Register and log in to the platform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Essential access to all services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355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Station Monitoring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View live charger availability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Core value — drivers find chargers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355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Session Management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Reserve a charger in advance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Directly cuts waiting time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355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Waiting Time Prediction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See predicted waiting time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Improves planning and trust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355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Notification System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Get availability and fault alerts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Keeps users and staff informed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355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Energy Reporting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Generate energy usage reports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Supports admin optimisation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355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Maintenance Management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Track and resolve charger faults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Reduces long-term downtime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355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Priority: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1417320" y="6199632"/>
            <a:ext cx="237744" cy="219456"/>
          </a:xfrm>
          <a:prstGeom prst="roundRect">
            <a:avLst>
              <a:gd name="adj" fmla="val 12500"/>
            </a:avLst>
          </a:prstGeom>
          <a:solidFill>
            <a:srgbClr val="C0392B"/>
          </a:solidFill>
        </p:spPr>
      </p:sp>
      <p:sp>
        <p:nvSpPr>
          <p:cNvPr id="8" name="Text 4"/>
          <p:cNvSpPr/>
          <p:nvPr/>
        </p:nvSpPr>
        <p:spPr>
          <a:xfrm>
            <a:off x="1709928" y="6144768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788920" y="6199632"/>
            <a:ext cx="237744" cy="219456"/>
          </a:xfrm>
          <a:prstGeom prst="roundRect">
            <a:avLst>
              <a:gd name="adj" fmla="val 12500"/>
            </a:avLst>
          </a:prstGeom>
          <a:solidFill>
            <a:srgbClr val="D97706"/>
          </a:solidFill>
        </p:spPr>
      </p:sp>
      <p:sp>
        <p:nvSpPr>
          <p:cNvPr id="5" name="Text 6"/>
          <p:cNvSpPr/>
          <p:nvPr/>
        </p:nvSpPr>
        <p:spPr>
          <a:xfrm>
            <a:off x="3081528" y="6144768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60520" y="6199632"/>
            <a:ext cx="237744" cy="219456"/>
          </a:xfrm>
          <a:prstGeom prst="roundRect">
            <a:avLst>
              <a:gd name="adj" fmla="val 12500"/>
            </a:avLst>
          </a:prstGeom>
          <a:solidFill>
            <a:srgbClr val="1E8A5A"/>
          </a:solidFill>
        </p:spPr>
      </p:sp>
      <p:sp>
        <p:nvSpPr>
          <p:cNvPr id="12" name="Text 8"/>
          <p:cNvSpPr/>
          <p:nvPr/>
        </p:nvSpPr>
        <p:spPr>
          <a:xfrm>
            <a:off x="4453128" y="6144768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3" name="Image 0" descr="icons/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1036289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Backlog — Scrum Board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E2C4E"/>
          </a:solidFill>
          <a:ln w="12700">
            <a:solidFill>
              <a:srgbClr val="0E2C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3258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3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Duration:  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Weeks       </a:t>
            </a:r>
            <a:r>
              <a:rPr lang="en-US" sz="1400" b="1" dirty="0">
                <a:solidFill>
                  <a:srgbClr val="8FD3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Goal:  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the core charging management features.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3602736" cy="3657600"/>
          </a:xfrm>
          <a:prstGeom prst="roundRect">
            <a:avLst>
              <a:gd name="adj" fmla="val 2030"/>
            </a:avLst>
          </a:prstGeom>
          <a:solidFill>
            <a:srgbClr val="EEF3F7"/>
          </a:solidFill>
          <a:ln w="12700">
            <a:solidFill>
              <a:srgbClr val="D3E0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286000"/>
            <a:ext cx="3602736" cy="457200"/>
          </a:xfrm>
          <a:prstGeom prst="roundRect">
            <a:avLst>
              <a:gd name="adj" fmla="val 12000"/>
            </a:avLst>
          </a:prstGeom>
          <a:solidFill>
            <a:srgbClr val="9BB4C6"/>
          </a:solidFill>
        </p:spPr>
      </p:sp>
      <p:sp>
        <p:nvSpPr>
          <p:cNvPr id="9" name="Shape 6"/>
          <p:cNvSpPr/>
          <p:nvPr/>
        </p:nvSpPr>
        <p:spPr>
          <a:xfrm>
            <a:off x="548640" y="2514600"/>
            <a:ext cx="3602736" cy="228600"/>
          </a:xfrm>
          <a:prstGeom prst="rect">
            <a:avLst/>
          </a:prstGeom>
          <a:solidFill>
            <a:srgbClr val="9BB4C6"/>
          </a:solidFill>
        </p:spPr>
      </p:sp>
      <p:sp>
        <p:nvSpPr>
          <p:cNvPr id="10" name="Text 7"/>
          <p:cNvSpPr/>
          <p:nvPr/>
        </p:nvSpPr>
        <p:spPr>
          <a:xfrm>
            <a:off x="548640" y="2286000"/>
            <a:ext cx="3602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Do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3232" y="2907792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9536" y="2907792"/>
            <a:ext cx="30540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Station Monitoring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9536" y="3364992"/>
            <a:ext cx="305409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13232" y="3785616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59536" y="3785616"/>
            <a:ext cx="30540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Charger Availability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59536" y="4242816"/>
            <a:ext cx="305409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297680" y="2286000"/>
            <a:ext cx="3602736" cy="3657600"/>
          </a:xfrm>
          <a:prstGeom prst="roundRect">
            <a:avLst>
              <a:gd name="adj" fmla="val 2030"/>
            </a:avLst>
          </a:prstGeom>
          <a:solidFill>
            <a:srgbClr val="EEF3F7"/>
          </a:solidFill>
          <a:ln w="12700">
            <a:solidFill>
              <a:srgbClr val="D3E0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97680" y="2286000"/>
            <a:ext cx="3602736" cy="457200"/>
          </a:xfrm>
          <a:prstGeom prst="roundRect">
            <a:avLst>
              <a:gd name="adj" fmla="val 12000"/>
            </a:avLst>
          </a:prstGeom>
          <a:solidFill>
            <a:srgbClr val="B4530A"/>
          </a:solidFill>
        </p:spPr>
      </p:sp>
      <p:sp>
        <p:nvSpPr>
          <p:cNvPr id="19" name="Shape 16"/>
          <p:cNvSpPr/>
          <p:nvPr/>
        </p:nvSpPr>
        <p:spPr>
          <a:xfrm>
            <a:off x="4297680" y="2514600"/>
            <a:ext cx="3602736" cy="228600"/>
          </a:xfrm>
          <a:prstGeom prst="rect">
            <a:avLst/>
          </a:prstGeom>
          <a:solidFill>
            <a:srgbClr val="B4530A"/>
          </a:solidFill>
        </p:spPr>
      </p:sp>
      <p:sp>
        <p:nvSpPr>
          <p:cNvPr id="20" name="Text 17"/>
          <p:cNvSpPr/>
          <p:nvPr/>
        </p:nvSpPr>
        <p:spPr>
          <a:xfrm>
            <a:off x="4297680" y="2286000"/>
            <a:ext cx="3602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Progress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462272" y="2907792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608576" y="2907792"/>
            <a:ext cx="30540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608576" y="3364992"/>
            <a:ext cx="305409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046720" y="2286000"/>
            <a:ext cx="3602736" cy="3657600"/>
          </a:xfrm>
          <a:prstGeom prst="roundRect">
            <a:avLst>
              <a:gd name="adj" fmla="val 2030"/>
            </a:avLst>
          </a:prstGeom>
          <a:solidFill>
            <a:srgbClr val="EEF3F7"/>
          </a:solidFill>
          <a:ln w="12700">
            <a:solidFill>
              <a:srgbClr val="D3E0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46720" y="2286000"/>
            <a:ext cx="3602736" cy="457200"/>
          </a:xfrm>
          <a:prstGeom prst="roundRect">
            <a:avLst>
              <a:gd name="adj" fmla="val 12000"/>
            </a:avLst>
          </a:prstGeom>
          <a:solidFill>
            <a:srgbClr val="0F8A6A"/>
          </a:solidFill>
        </p:spPr>
      </p:sp>
      <p:sp>
        <p:nvSpPr>
          <p:cNvPr id="26" name="Shape 23"/>
          <p:cNvSpPr/>
          <p:nvPr/>
        </p:nvSpPr>
        <p:spPr>
          <a:xfrm>
            <a:off x="8046720" y="2514600"/>
            <a:ext cx="3602736" cy="228600"/>
          </a:xfrm>
          <a:prstGeom prst="rect">
            <a:avLst/>
          </a:prstGeom>
          <a:solidFill>
            <a:srgbClr val="0F8A6A"/>
          </a:solidFill>
        </p:spPr>
      </p:sp>
      <p:sp>
        <p:nvSpPr>
          <p:cNvPr id="27" name="Text 24"/>
          <p:cNvSpPr/>
          <p:nvPr/>
        </p:nvSpPr>
        <p:spPr>
          <a:xfrm>
            <a:off x="8046720" y="2286000"/>
            <a:ext cx="3602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Done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211312" y="2907792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357616" y="2907792"/>
            <a:ext cx="30540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357616" y="3364992"/>
            <a:ext cx="305409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3" name="Image 0" descr="icons/targ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1036289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Story Point Estimation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298448"/>
            <a:ext cx="6583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Fibonacci estimation — story points grow non-linearly (1, 2, 3, 5, 8, 13, 21…) so larger, riskier stories are separated clearly from small ones.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2240280"/>
          <a:ext cx="6583680" cy="4096512"/>
        </p:xfrm>
        <a:graphic>
          <a:graphicData uri="http://schemas.openxmlformats.org/drawingml/2006/table">
            <a:tbl>
              <a:tblPr/>
              <a:tblGrid>
                <a:gridCol w="2286000"/>
                <a:gridCol w="868680"/>
                <a:gridCol w="342900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User Story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Points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Justification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Registration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Standard form and validation.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Login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Simple, well-understood auth.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Station Monitoring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Live data integration needed.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Charger Availability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Real-time status per charger.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Reservation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Concurrency and hold logic.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Waiting Time Prediction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 model and data pipeline.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Notifications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Event triggers across channels.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60920" y="1371600"/>
            <a:ext cx="4279392" cy="4663440"/>
          </a:xfrm>
          <a:prstGeom prst="roundRect">
            <a:avLst>
              <a:gd name="adj" fmla="val 1709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60920" y="1463040"/>
            <a:ext cx="42793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Fibonacci Sequence</a:t>
            </a:r>
            <a:endParaRPr lang="en-US" sz="1400" dirty="0"/>
          </a:p>
        </p:txBody>
      </p:sp>
      <p:pic>
        <p:nvPicPr>
          <p:cNvPr id="9" name="Image 1" descr="f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0"/>
            <a:ext cx="4005072" cy="267004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635240" y="47091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2C4E"/>
          </a:solidFill>
        </p:spPr>
      </p:sp>
      <p:sp>
        <p:nvSpPr>
          <p:cNvPr id="11" name="Text 6"/>
          <p:cNvSpPr/>
          <p:nvPr/>
        </p:nvSpPr>
        <p:spPr>
          <a:xfrm>
            <a:off x="7635240" y="47091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7"/>
          <p:cNvSpPr/>
          <p:nvPr/>
        </p:nvSpPr>
        <p:spPr>
          <a:xfrm>
            <a:off x="8293608" y="47091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55A86"/>
          </a:solidFill>
        </p:spPr>
      </p:sp>
      <p:sp>
        <p:nvSpPr>
          <p:cNvPr id="13" name="Text 8"/>
          <p:cNvSpPr/>
          <p:nvPr/>
        </p:nvSpPr>
        <p:spPr>
          <a:xfrm>
            <a:off x="8293608" y="47091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951976" y="47091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B2"/>
          </a:solidFill>
        </p:spPr>
      </p:sp>
      <p:sp>
        <p:nvSpPr>
          <p:cNvPr id="15" name="Text 10"/>
          <p:cNvSpPr/>
          <p:nvPr/>
        </p:nvSpPr>
        <p:spPr>
          <a:xfrm>
            <a:off x="8951976" y="47091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9610344" y="47091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8A6A"/>
          </a:solidFill>
        </p:spPr>
      </p:sp>
      <p:sp>
        <p:nvSpPr>
          <p:cNvPr id="17" name="Text 12"/>
          <p:cNvSpPr/>
          <p:nvPr/>
        </p:nvSpPr>
        <p:spPr>
          <a:xfrm>
            <a:off x="9610344" y="47091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10268712" y="47091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766E"/>
          </a:solidFill>
        </p:spPr>
      </p:sp>
      <p:sp>
        <p:nvSpPr>
          <p:cNvPr id="19" name="Text 14"/>
          <p:cNvSpPr/>
          <p:nvPr/>
        </p:nvSpPr>
        <p:spPr>
          <a:xfrm>
            <a:off x="10268712" y="47091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10927080" y="47091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B4530A"/>
          </a:solidFill>
        </p:spPr>
      </p:sp>
      <p:sp>
        <p:nvSpPr>
          <p:cNvPr id="21" name="Text 16"/>
          <p:cNvSpPr/>
          <p:nvPr/>
        </p:nvSpPr>
        <p:spPr>
          <a:xfrm>
            <a:off x="10927080" y="47091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498080" y="544068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number is the sum of the two before it — gaps widen as uncertainty grows.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3" name="Image 0" descr="icons/fla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1036289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Goal &amp; Deliverables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E2C4E"/>
          </a:solidFill>
          <a:ln w="12700">
            <a:solidFill>
              <a:srgbClr val="0E2C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32588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D3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Goal   </a:t>
            </a: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user authentication and real-time charger monitoring.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2688336" cy="932688"/>
          </a:xfrm>
          <a:prstGeom prst="roundRect">
            <a:avLst>
              <a:gd name="adj" fmla="val 7843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2615184"/>
            <a:ext cx="548640" cy="548640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9" name="Image 1" descr="icons/sig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78" y="2757830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9888" y="2423160"/>
            <a:ext cx="1728216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Registration Module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3364992" y="2423160"/>
            <a:ext cx="2688336" cy="932688"/>
          </a:xfrm>
          <a:prstGeom prst="roundRect">
            <a:avLst>
              <a:gd name="adj" fmla="val 7843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29584" y="2615184"/>
            <a:ext cx="548640" cy="548640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13" name="Image 2" descr="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230" y="2757830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06240" y="2423160"/>
            <a:ext cx="1728216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Module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181344" y="2423160"/>
            <a:ext cx="2688336" cy="932688"/>
          </a:xfrm>
          <a:prstGeom prst="roundRect">
            <a:avLst>
              <a:gd name="adj" fmla="val 7843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345936" y="2615184"/>
            <a:ext cx="548640" cy="548640"/>
          </a:xfrm>
          <a:prstGeom prst="ellipse">
            <a:avLst/>
          </a:prstGeom>
          <a:solidFill>
            <a:srgbClr val="B4530A"/>
          </a:solidFill>
        </p:spPr>
      </p:sp>
      <p:pic>
        <p:nvPicPr>
          <p:cNvPr id="17" name="Image 3" descr="icons/mon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582" y="2757830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22592" y="2423160"/>
            <a:ext cx="1728216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Charging Dashboard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8997696" y="2423160"/>
            <a:ext cx="2688336" cy="932688"/>
          </a:xfrm>
          <a:prstGeom prst="roundRect">
            <a:avLst>
              <a:gd name="adj" fmla="val 7843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162288" y="2615184"/>
            <a:ext cx="548640" cy="548640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21" name="Image 4" descr="icons/char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4934" y="2757830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838944" y="2423160"/>
            <a:ext cx="1728216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Charger Availability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548640" y="3502152"/>
            <a:ext cx="2688336" cy="932688"/>
          </a:xfrm>
          <a:prstGeom prst="roundRect">
            <a:avLst>
              <a:gd name="adj" fmla="val 7843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713232" y="3694176"/>
            <a:ext cx="548640" cy="548640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25" name="Image 5" descr="icons/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78" y="3836822"/>
            <a:ext cx="263347" cy="26334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89888" y="3502152"/>
            <a:ext cx="1728216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3364992" y="3502152"/>
            <a:ext cx="2688336" cy="932688"/>
          </a:xfrm>
          <a:prstGeom prst="roundRect">
            <a:avLst>
              <a:gd name="adj" fmla="val 7843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3529584" y="3694176"/>
            <a:ext cx="548640" cy="548640"/>
          </a:xfrm>
          <a:prstGeom prst="ellipse">
            <a:avLst/>
          </a:prstGeom>
          <a:solidFill>
            <a:srgbClr val="B4530A"/>
          </a:solidFill>
        </p:spPr>
      </p:sp>
      <p:pic>
        <p:nvPicPr>
          <p:cNvPr id="29" name="Image 6" descr="icons/u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2230" y="3836822"/>
            <a:ext cx="263347" cy="263347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206240" y="3502152"/>
            <a:ext cx="1728216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 UI</a:t>
            </a:r>
            <a:endParaRPr lang="en-US" sz="1350" dirty="0"/>
          </a:p>
        </p:txBody>
      </p:sp>
      <p:sp>
        <p:nvSpPr>
          <p:cNvPr id="31" name="Shape 22"/>
          <p:cNvSpPr/>
          <p:nvPr/>
        </p:nvSpPr>
        <p:spPr>
          <a:xfrm>
            <a:off x="6181344" y="3502152"/>
            <a:ext cx="2688336" cy="932688"/>
          </a:xfrm>
          <a:prstGeom prst="roundRect">
            <a:avLst>
              <a:gd name="adj" fmla="val 7843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6345936" y="3694176"/>
            <a:ext cx="548640" cy="548640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33" name="Image 7" descr="icons/flas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8582" y="3836822"/>
            <a:ext cx="263347" cy="263347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022592" y="3502152"/>
            <a:ext cx="1728216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Testing</a:t>
            </a:r>
            <a:endParaRPr lang="en-US" sz="1350" dirty="0"/>
          </a:p>
        </p:txBody>
      </p:sp>
      <p:sp>
        <p:nvSpPr>
          <p:cNvPr id="35" name="Shape 25"/>
          <p:cNvSpPr/>
          <p:nvPr/>
        </p:nvSpPr>
        <p:spPr>
          <a:xfrm>
            <a:off x="548640" y="46634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EAF4EF"/>
          </a:solidFill>
          <a:ln w="12700">
            <a:solidFill>
              <a:srgbClr val="BFE0D2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731520" y="475488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A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Milestone Timeline — 2-week sprint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1636776" y="5230368"/>
            <a:ext cx="182880" cy="182880"/>
          </a:xfrm>
          <a:prstGeom prst="ellipse">
            <a:avLst/>
          </a:prstGeom>
          <a:solidFill>
            <a:srgbClr val="1F6FB2"/>
          </a:solidFill>
        </p:spPr>
      </p:sp>
      <p:sp>
        <p:nvSpPr>
          <p:cNvPr id="38" name="Text 28"/>
          <p:cNvSpPr/>
          <p:nvPr/>
        </p:nvSpPr>
        <p:spPr>
          <a:xfrm>
            <a:off x="822960" y="5449824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1–2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822960" y="5669280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Setup &amp; DB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1819656" y="5321808"/>
            <a:ext cx="1993392" cy="914"/>
          </a:xfrm>
          <a:prstGeom prst="line">
            <a:avLst/>
          </a:prstGeom>
          <a:noFill/>
          <a:ln w="19050">
            <a:solidFill>
              <a:srgbClr val="9BB4C6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3813048" y="5230368"/>
            <a:ext cx="182880" cy="182880"/>
          </a:xfrm>
          <a:prstGeom prst="ellipse">
            <a:avLst/>
          </a:prstGeom>
          <a:solidFill>
            <a:srgbClr val="1F6FB2"/>
          </a:solidFill>
        </p:spPr>
      </p:sp>
      <p:sp>
        <p:nvSpPr>
          <p:cNvPr id="42" name="Text 32"/>
          <p:cNvSpPr/>
          <p:nvPr/>
        </p:nvSpPr>
        <p:spPr>
          <a:xfrm>
            <a:off x="2999232" y="5449824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3–5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2999232" y="5669280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modules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3995928" y="5321808"/>
            <a:ext cx="1993392" cy="914"/>
          </a:xfrm>
          <a:prstGeom prst="line">
            <a:avLst/>
          </a:prstGeom>
          <a:noFill/>
          <a:ln w="19050">
            <a:solidFill>
              <a:srgbClr val="9BB4C6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5989320" y="5230368"/>
            <a:ext cx="182880" cy="182880"/>
          </a:xfrm>
          <a:prstGeom prst="ellipse">
            <a:avLst/>
          </a:prstGeom>
          <a:solidFill>
            <a:srgbClr val="1F6FB2"/>
          </a:solidFill>
        </p:spPr>
      </p:sp>
      <p:sp>
        <p:nvSpPr>
          <p:cNvPr id="46" name="Text 36"/>
          <p:cNvSpPr/>
          <p:nvPr/>
        </p:nvSpPr>
        <p:spPr>
          <a:xfrm>
            <a:off x="5175504" y="5449824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6–9</a:t>
            </a:r>
            <a:endParaRPr lang="en-US" sz="1100" dirty="0"/>
          </a:p>
        </p:txBody>
      </p:sp>
      <p:sp>
        <p:nvSpPr>
          <p:cNvPr id="47" name="Text 37"/>
          <p:cNvSpPr/>
          <p:nvPr/>
        </p:nvSpPr>
        <p:spPr>
          <a:xfrm>
            <a:off x="5175504" y="5669280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6172200" y="5321808"/>
            <a:ext cx="1993392" cy="914"/>
          </a:xfrm>
          <a:prstGeom prst="line">
            <a:avLst/>
          </a:prstGeom>
          <a:noFill/>
          <a:ln w="19050">
            <a:solidFill>
              <a:srgbClr val="9BB4C6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8165592" y="5230368"/>
            <a:ext cx="182880" cy="182880"/>
          </a:xfrm>
          <a:prstGeom prst="ellipse">
            <a:avLst/>
          </a:prstGeom>
          <a:solidFill>
            <a:srgbClr val="1F6FB2"/>
          </a:solidFill>
        </p:spPr>
      </p:sp>
      <p:sp>
        <p:nvSpPr>
          <p:cNvPr id="50" name="Text 40"/>
          <p:cNvSpPr/>
          <p:nvPr/>
        </p:nvSpPr>
        <p:spPr>
          <a:xfrm>
            <a:off x="7351776" y="5449824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10–12</a:t>
            </a:r>
            <a:endParaRPr lang="en-US" sz="1100" dirty="0"/>
          </a:p>
        </p:txBody>
      </p:sp>
      <p:sp>
        <p:nvSpPr>
          <p:cNvPr id="51" name="Text 41"/>
          <p:cNvSpPr/>
          <p:nvPr/>
        </p:nvSpPr>
        <p:spPr>
          <a:xfrm>
            <a:off x="7351776" y="5669280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&amp; integrate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348472" y="5321808"/>
            <a:ext cx="1993392" cy="914"/>
          </a:xfrm>
          <a:prstGeom prst="line">
            <a:avLst/>
          </a:prstGeom>
          <a:noFill/>
          <a:ln w="19050">
            <a:solidFill>
              <a:srgbClr val="9BB4C6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10341864" y="5230368"/>
            <a:ext cx="182880" cy="182880"/>
          </a:xfrm>
          <a:prstGeom prst="ellipse">
            <a:avLst/>
          </a:prstGeom>
          <a:solidFill>
            <a:srgbClr val="1F6FB2"/>
          </a:solidFill>
        </p:spPr>
      </p:sp>
      <p:sp>
        <p:nvSpPr>
          <p:cNvPr id="54" name="Text 44"/>
          <p:cNvSpPr/>
          <p:nvPr/>
        </p:nvSpPr>
        <p:spPr>
          <a:xfrm>
            <a:off x="9528048" y="5449824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13–14</a:t>
            </a:r>
            <a:endParaRPr lang="en-US" sz="1100" dirty="0"/>
          </a:p>
        </p:txBody>
      </p:sp>
      <p:sp>
        <p:nvSpPr>
          <p:cNvPr id="55" name="Text 45"/>
          <p:cNvSpPr/>
          <p:nvPr/>
        </p:nvSpPr>
        <p:spPr>
          <a:xfrm>
            <a:off x="9528048" y="5669280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&amp; review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3" name="Image 0" descr="icons/co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1036289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Agile Workflow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14630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23544" y="1751076"/>
            <a:ext cx="475488" cy="475488"/>
          </a:xfrm>
          <a:prstGeom prst="ellipse">
            <a:avLst/>
          </a:prstGeom>
          <a:solidFill>
            <a:srgbClr val="1F6FB2"/>
          </a:solidFill>
        </p:spPr>
      </p:sp>
      <p:sp>
        <p:nvSpPr>
          <p:cNvPr id="7" name="Text 4"/>
          <p:cNvSpPr/>
          <p:nvPr/>
        </p:nvSpPr>
        <p:spPr>
          <a:xfrm>
            <a:off x="923544" y="17510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27048" y="146304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80560" y="14630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6864" y="1751076"/>
            <a:ext cx="475488" cy="475488"/>
          </a:xfrm>
          <a:prstGeom prst="ellipse">
            <a:avLst/>
          </a:prstGeom>
          <a:solidFill>
            <a:srgbClr val="1F6FB2"/>
          </a:solidFill>
        </p:spPr>
      </p:sp>
      <p:sp>
        <p:nvSpPr>
          <p:cNvPr id="11" name="Text 8"/>
          <p:cNvSpPr/>
          <p:nvPr/>
        </p:nvSpPr>
        <p:spPr>
          <a:xfrm>
            <a:off x="4626864" y="17510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30368" y="146304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Backlog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183880" y="14630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30184" y="1751076"/>
            <a:ext cx="475488" cy="475488"/>
          </a:xfrm>
          <a:prstGeom prst="ellipse">
            <a:avLst/>
          </a:prstGeom>
          <a:solidFill>
            <a:srgbClr val="0F8A6A"/>
          </a:solidFill>
        </p:spPr>
      </p:sp>
      <p:sp>
        <p:nvSpPr>
          <p:cNvPr id="15" name="Text 12"/>
          <p:cNvSpPr/>
          <p:nvPr/>
        </p:nvSpPr>
        <p:spPr>
          <a:xfrm>
            <a:off x="8330184" y="17510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933688" y="146304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Planning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183880" y="2898648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0184" y="3186684"/>
            <a:ext cx="475488" cy="475488"/>
          </a:xfrm>
          <a:prstGeom prst="ellipse">
            <a:avLst/>
          </a:prstGeom>
          <a:solidFill>
            <a:srgbClr val="0F8A6A"/>
          </a:solidFill>
        </p:spPr>
      </p:sp>
      <p:sp>
        <p:nvSpPr>
          <p:cNvPr id="19" name="Text 16"/>
          <p:cNvSpPr/>
          <p:nvPr/>
        </p:nvSpPr>
        <p:spPr>
          <a:xfrm>
            <a:off x="8330184" y="318668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933688" y="2898648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Backlog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480560" y="2898648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26864" y="3186684"/>
            <a:ext cx="475488" cy="475488"/>
          </a:xfrm>
          <a:prstGeom prst="ellipse">
            <a:avLst/>
          </a:prstGeom>
          <a:solidFill>
            <a:srgbClr val="B4530A"/>
          </a:solidFill>
        </p:spPr>
      </p:sp>
      <p:sp>
        <p:nvSpPr>
          <p:cNvPr id="23" name="Text 20"/>
          <p:cNvSpPr/>
          <p:nvPr/>
        </p:nvSpPr>
        <p:spPr>
          <a:xfrm>
            <a:off x="4626864" y="318668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230368" y="2898648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77240" y="2898648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23544" y="3186684"/>
            <a:ext cx="475488" cy="475488"/>
          </a:xfrm>
          <a:prstGeom prst="ellipse">
            <a:avLst/>
          </a:prstGeom>
          <a:solidFill>
            <a:srgbClr val="B4530A"/>
          </a:solidFill>
        </p:spPr>
      </p:sp>
      <p:sp>
        <p:nvSpPr>
          <p:cNvPr id="27" name="Text 24"/>
          <p:cNvSpPr/>
          <p:nvPr/>
        </p:nvSpPr>
        <p:spPr>
          <a:xfrm>
            <a:off x="923544" y="318668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527048" y="2898648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77240" y="4334256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923544" y="4622292"/>
            <a:ext cx="475488" cy="475488"/>
          </a:xfrm>
          <a:prstGeom prst="ellipse">
            <a:avLst/>
          </a:prstGeom>
          <a:solidFill>
            <a:srgbClr val="1F6FB2"/>
          </a:solidFill>
        </p:spPr>
      </p:sp>
      <p:sp>
        <p:nvSpPr>
          <p:cNvPr id="31" name="Text 28"/>
          <p:cNvSpPr/>
          <p:nvPr/>
        </p:nvSpPr>
        <p:spPr>
          <a:xfrm>
            <a:off x="923544" y="46222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527048" y="4334256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Review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4480560" y="4334256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626864" y="4622292"/>
            <a:ext cx="475488" cy="475488"/>
          </a:xfrm>
          <a:prstGeom prst="ellipse">
            <a:avLst/>
          </a:prstGeom>
          <a:solidFill>
            <a:srgbClr val="0F8A6A"/>
          </a:solidFill>
        </p:spPr>
      </p:sp>
      <p:sp>
        <p:nvSpPr>
          <p:cNvPr id="35" name="Text 32"/>
          <p:cNvSpPr/>
          <p:nvPr/>
        </p:nvSpPr>
        <p:spPr>
          <a:xfrm>
            <a:off x="4626864" y="46222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230368" y="4334256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Retrospective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8183880" y="4334256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0F5A46"/>
          </a:solidFill>
          <a:ln w="12700">
            <a:solidFill>
              <a:srgbClr val="0F5A46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330184" y="4622292"/>
            <a:ext cx="475488" cy="47548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9" name="Text 36"/>
          <p:cNvSpPr/>
          <p:nvPr/>
        </p:nvSpPr>
        <p:spPr>
          <a:xfrm>
            <a:off x="8330184" y="46222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5A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933688" y="4334256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Increment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4032504" y="1897380"/>
            <a:ext cx="393192" cy="182880"/>
          </a:xfrm>
          <a:prstGeom prst="rightArrow">
            <a:avLst/>
          </a:prstGeom>
          <a:solidFill>
            <a:srgbClr val="7FA8C4"/>
          </a:solidFill>
          <a:ln w="12700">
            <a:solidFill>
              <a:srgbClr val="7FA8C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735824" y="1897380"/>
            <a:ext cx="393192" cy="182880"/>
          </a:xfrm>
          <a:prstGeom prst="rightArrow">
            <a:avLst/>
          </a:prstGeom>
          <a:solidFill>
            <a:srgbClr val="7FA8C4"/>
          </a:solidFill>
          <a:ln w="12700">
            <a:solidFill>
              <a:srgbClr val="7FA8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692640" y="2569464"/>
            <a:ext cx="182880" cy="274320"/>
          </a:xfrm>
          <a:prstGeom prst="downArrow">
            <a:avLst/>
          </a:prstGeom>
          <a:solidFill>
            <a:srgbClr val="7FA8C4"/>
          </a:solidFill>
          <a:ln w="12700">
            <a:solidFill>
              <a:srgbClr val="7FA8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735824" y="3332988"/>
            <a:ext cx="393192" cy="182880"/>
          </a:xfrm>
          <a:prstGeom prst="leftArrow">
            <a:avLst/>
          </a:prstGeom>
          <a:solidFill>
            <a:srgbClr val="7FA8C4"/>
          </a:solidFill>
          <a:ln w="12700">
            <a:solidFill>
              <a:srgbClr val="7FA8C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032504" y="3332988"/>
            <a:ext cx="393192" cy="182880"/>
          </a:xfrm>
          <a:prstGeom prst="leftArrow">
            <a:avLst/>
          </a:prstGeom>
          <a:solidFill>
            <a:srgbClr val="7FA8C4"/>
          </a:solidFill>
          <a:ln w="12700">
            <a:solidFill>
              <a:srgbClr val="7FA8C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286000" y="4005072"/>
            <a:ext cx="182880" cy="274320"/>
          </a:xfrm>
          <a:prstGeom prst="downArrow">
            <a:avLst/>
          </a:prstGeom>
          <a:solidFill>
            <a:srgbClr val="7FA8C4"/>
          </a:solidFill>
          <a:ln w="12700">
            <a:solidFill>
              <a:srgbClr val="7FA8C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032504" y="4768596"/>
            <a:ext cx="393192" cy="182880"/>
          </a:xfrm>
          <a:prstGeom prst="rightArrow">
            <a:avLst/>
          </a:prstGeom>
          <a:solidFill>
            <a:srgbClr val="7FA8C4"/>
          </a:solidFill>
          <a:ln w="12700">
            <a:solidFill>
              <a:srgbClr val="7FA8C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735824" y="4768596"/>
            <a:ext cx="393192" cy="182880"/>
          </a:xfrm>
          <a:prstGeom prst="rightArrow">
            <a:avLst/>
          </a:prstGeom>
          <a:solidFill>
            <a:srgbClr val="7FA8C4"/>
          </a:solidFill>
          <a:ln w="12700">
            <a:solidFill>
              <a:srgbClr val="7FA8C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3" name="Image 0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1036289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92808" y="1673352"/>
            <a:ext cx="914400" cy="914400"/>
          </a:xfrm>
          <a:prstGeom prst="ellipse">
            <a:avLst/>
          </a:prstGeom>
          <a:solidFill>
            <a:srgbClr val="B4530A"/>
          </a:solidFill>
        </p:spPr>
      </p:sp>
      <p:pic>
        <p:nvPicPr>
          <p:cNvPr id="7" name="Image 1" descr="icons/stop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52" y="1911096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2679192"/>
            <a:ext cx="332841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waiting time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31520" y="3118104"/>
            <a:ext cx="323697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Reservations and predictions cut queueing at busy stations.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297680" y="1417320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41848" y="1673352"/>
            <a:ext cx="914400" cy="914400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12" name="Image 2" descr="icons/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1911096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34840" y="2679192"/>
            <a:ext cx="332841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charger utilisation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480560" y="3118104"/>
            <a:ext cx="323697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allocation balances load across the network.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046720" y="1417320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390888" y="1673352"/>
            <a:ext cx="914400" cy="914400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17" name="Image 3" descr="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1911096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183880" y="2679192"/>
            <a:ext cx="332841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energy management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229600" y="3118104"/>
            <a:ext cx="323697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Consumption tracking and reports optimise electricity use.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785616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892808" y="4041648"/>
            <a:ext cx="914400" cy="914400"/>
          </a:xfrm>
          <a:prstGeom prst="ellipse">
            <a:avLst/>
          </a:prstGeom>
          <a:solidFill>
            <a:srgbClr val="B4530A"/>
          </a:solidFill>
        </p:spPr>
      </p:sp>
      <p:pic>
        <p:nvPicPr>
          <p:cNvPr id="22" name="Image 4" descr="icons/sm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0552" y="4279392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" y="5047488"/>
            <a:ext cx="332841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customer satisfaction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731520" y="5486400"/>
            <a:ext cx="323697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Reliable visibility and shorter waits improve the experience.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297680" y="3785616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5641848" y="4041648"/>
            <a:ext cx="914400" cy="914400"/>
          </a:xfrm>
          <a:prstGeom prst="ellipse">
            <a:avLst/>
          </a:prstGeom>
          <a:solidFill>
            <a:srgbClr val="1F6FB2"/>
          </a:solidFill>
        </p:spPr>
      </p:sp>
      <p:pic>
        <p:nvPicPr>
          <p:cNvPr id="27" name="Image 5" descr="icons/wre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4279392"/>
            <a:ext cx="438912" cy="4389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434840" y="5047488"/>
            <a:ext cx="332841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Efficient maintenance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4480560" y="5486400"/>
            <a:ext cx="323697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Fault alerts enable faster repair and less downtime.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8046720" y="3785616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F3F7FA"/>
          </a:solidFill>
          <a:ln w="12700">
            <a:solidFill>
              <a:srgbClr val="D3E0EA"/>
            </a:solidFill>
            <a:prstDash val="solid"/>
          </a:ln>
          <a:effectLst>
            <a:outerShdw blurRad="76200" dist="25400" dir="5400000" algn="bl" rotWithShape="0">
              <a:srgbClr val="8FA6B8">
                <a:alpha val="3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9390888" y="4041648"/>
            <a:ext cx="914400" cy="914400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32" name="Image 6" descr="icons/lea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8632" y="4279392"/>
            <a:ext cx="438912" cy="43891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183880" y="5047488"/>
            <a:ext cx="332841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35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charging ecosystem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8229600" y="5486400"/>
            <a:ext cx="323697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connected, data-driven, sustainable charging network.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0C2947"/>
          </a:solidFill>
          <a:ln w="12700">
            <a:solidFill>
              <a:srgbClr val="1C4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947672"/>
            <a:ext cx="512064" cy="512064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5" name="Image 0" descr="icons/c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977" y="2080809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83080"/>
            <a:ext cx="94183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Agile improves project management by delivering value in short, adaptive cycles.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22960" y="2752344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0C2947"/>
          </a:solidFill>
          <a:ln w="12700">
            <a:solidFill>
              <a:srgbClr val="1C4A7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2916936"/>
            <a:ext cx="512064" cy="512064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9" name="Image 1" descr="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977" y="3050073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752344"/>
            <a:ext cx="94183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planning helps prioritise the features that matter most, first.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3721608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0C2947"/>
          </a:solidFill>
          <a:ln w="12700">
            <a:solidFill>
              <a:srgbClr val="1C4A7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05840" y="3886200"/>
            <a:ext cx="512064" cy="512064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13" name="Image 2" descr="icons/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977" y="4019337"/>
            <a:ext cx="245791" cy="2457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3721608"/>
            <a:ext cx="94183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stories keep the team focused on real customer needs and outcomes.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822960" y="4690872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0C2947"/>
          </a:solidFill>
          <a:ln w="12700">
            <a:solidFill>
              <a:srgbClr val="1C4A7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05840" y="4855464"/>
            <a:ext cx="512064" cy="512064"/>
          </a:xfrm>
          <a:prstGeom prst="ellipse">
            <a:avLst/>
          </a:prstGeom>
          <a:solidFill>
            <a:srgbClr val="0F8A6A"/>
          </a:solidFill>
        </p:spPr>
      </p:sp>
      <p:pic>
        <p:nvPicPr>
          <p:cNvPr id="17" name="Image 3" descr="icons/le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977" y="4988601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37360" y="4690872"/>
            <a:ext cx="94183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EV charging reduces waiting time and optimises energy usage across the network.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22960" y="580644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7153</Words>
  <Application>WPS Presentation</Application>
  <PresentationFormat>On-screen Show (16:9)</PresentationFormat>
  <Paragraphs>599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Sprint Planning and User Story Workshop</dc:title>
  <dc:creator>Jenica A</dc:creator>
  <dc:subject>PptxGenJS Presentation</dc:subject>
  <cp:lastModifiedBy>Vimala Kv</cp:lastModifiedBy>
  <cp:revision>2</cp:revision>
  <dcterms:created xsi:type="dcterms:W3CDTF">2026-07-31T05:44:00Z</dcterms:created>
  <dcterms:modified xsi:type="dcterms:W3CDTF">2026-08-01T03:38:04Z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AA9EAEA25F3543798BAF5762A9490B63_13</vt:lpwstr>
  </property>
</Properties>
</file>