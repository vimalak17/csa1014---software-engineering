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80" r:id="rId8"/>
    <p:sldId id="277" r:id="rId9"/>
    <p:sldId id="276" r:id="rId10"/>
    <p:sldId id="271" r:id="rId11"/>
    <p:sldId id="272" r:id="rId12"/>
    <p:sldId id="273" r:id="rId13"/>
    <p:sldId id="278" r:id="rId14"/>
    <p:sldId id="274" r:id="rId15"/>
    <p:sldId id="269" r:id="rId16"/>
  </p:sldIdLst>
  <p:sldSz cx="18288000" cy="10287000"/>
  <p:notesSz cx="6858000" cy="9144000"/>
  <p:embeddedFontLst>
    <p:embeddedFont>
      <p:font typeface="Calibri (MS) Bold" panose="020F0702030404030204"/>
      <p:bold r:id="rId20"/>
    </p:embeddedFont>
    <p:embeddedFont>
      <p:font typeface="Calibri (MS)" panose="020F0502020204030204" charset="0"/>
      <p:regular r:id="rId21"/>
    </p:embeddedFont>
    <p:embeddedFont>
      <p:font typeface="Calibri (MS)" panose="020F0502020204030204"/>
      <p:regular r:id="rId22"/>
    </p:embeddedFont>
    <p:embeddedFont>
      <p:font typeface="TT Rounds Condensed Bold" panose="02000806030000020003"/>
      <p:bold r:id="rId23"/>
    </p:embeddedFont>
    <p:embeddedFont>
      <p:font typeface="SimSun-ExtG" panose="02010609060101010101" pitchFamily="49" charset="-122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8" d="100"/>
          <a:sy n="58" d="100"/>
        </p:scale>
        <p:origin x="51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hemeOverride" Target="../theme/themeOverride2.xml"/><Relationship Id="rId7" Type="http://schemas.openxmlformats.org/officeDocument/2006/relationships/hyperlink" Target="https://arxiv.org/abs/2207.13923?utm_source=chatgpt.com" TargetMode="External"/><Relationship Id="rId6" Type="http://schemas.openxmlformats.org/officeDocument/2006/relationships/hyperlink" Target="https://arxiv.org/abs/2307.05562?utm_source=chatgpt.com" TargetMode="External"/><Relationship Id="rId5" Type="http://schemas.openxmlformats.org/officeDocument/2006/relationships/hyperlink" Target="https://www.researchgate.net/publication/381187303_Improving_Retail_Industry_Inventory_Management_Using_Machine_Learning?utm_source=chatgpt.com" TargetMode="External"/><Relationship Id="rId4" Type="http://schemas.openxmlformats.org/officeDocument/2006/relationships/hyperlink" Target="https://openurl.ebsco.com/contentitem/doi:10.21863/jscms/2025.14.1.003?id=ebsco:doi:10.21863/jscms/2025.14.1.003&amp;sid=ebsco:plink:crawler&amp;utm_source=chatgpt.com" TargetMode="External"/><Relationship Id="rId3" Type="http://schemas.openxmlformats.org/officeDocument/2006/relationships/hyperlink" Target="https://www.researchgate.net/publication/403479874_APPLYING_MACHINE_LEARNING_TECHNIQUES_TO_MANAGE_INVENTORY_IN_RETAIL_STORES?utm_source=chatgpt.com" TargetMode="Externa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8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9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hemeOverride" Target="../theme/themeOverride10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86000" y="2218468"/>
            <a:ext cx="13716000" cy="3982084"/>
            <a:chOff x="0" y="0"/>
            <a:chExt cx="18288000" cy="530944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288000" cy="4775200"/>
            </a:xfrm>
            <a:custGeom>
              <a:avLst/>
              <a:gdLst/>
              <a:ahLst/>
              <a:cxnLst/>
              <a:rect l="l" t="t" r="r" b="b"/>
              <a:pathLst>
                <a:path w="18288000" h="4775200">
                  <a:moveTo>
                    <a:pt x="0" y="0"/>
                  </a:moveTo>
                  <a:lnTo>
                    <a:pt x="18288000" y="0"/>
                  </a:lnTo>
                  <a:lnTo>
                    <a:pt x="1828800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19971"/>
              <a:ext cx="18288000" cy="468947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ct val="100000"/>
                </a:lnSpc>
              </a:pPr>
              <a:r>
                <a:rPr lang="en-US" altLang="en-US" sz="4400" b="1" dirty="0">
                  <a:solidFill>
                    <a:schemeClr val="accent6">
                      <a:lumMod val="75000"/>
                    </a:schemeClr>
                  </a:solidFill>
                  <a:latin typeface="Times New Roman" panose="02020603050405020304" charset="0"/>
                  <a:ea typeface="Calibri (MS) Bold" panose="020F0702030404030204"/>
                  <a:cs typeface="Times New Roman" panose="02020603050405020304" charset="0"/>
                  <a:sym typeface="Calibri (MS) Bold" panose="020F0702030404030204"/>
                </a:rPr>
                <a:t>Development of an Inventory and Sales Management System Using Modern Software Engineering Practices</a:t>
              </a:r>
              <a:endParaRPr lang="en-US" altLang="en-US" sz="4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charset="0"/>
                <a:ea typeface="Calibri (MS) Bold" panose="020F0702030404030204"/>
                <a:cs typeface="Times New Roman" panose="02020603050405020304" charset="0"/>
                <a:sym typeface="Calibri (MS) Bold" panose="020F0702030404030204"/>
              </a:endParaRPr>
            </a:p>
            <a:p>
              <a:pPr algn="ctr">
                <a:lnSpc>
                  <a:spcPct val="100000"/>
                </a:lnSpc>
              </a:pPr>
              <a:endParaRPr lang="en-US" altLang="en-US" sz="3600" b="1" dirty="0">
                <a:solidFill>
                  <a:srgbClr val="000000"/>
                </a:solidFill>
                <a:latin typeface="Calibri (MS)" panose="020F0502020204030204" charset="0"/>
                <a:ea typeface="Calibri (MS) Bold" panose="020F0702030404030204"/>
                <a:cs typeface="Calibri (MS)" panose="020F0502020204030204" charset="0"/>
                <a:sym typeface="Calibri (MS) Bold" panose="020F0702030404030204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Calibri (MS)" panose="020F0502020204030204" charset="0"/>
                  <a:ea typeface="Calibri (MS) Bold" panose="020F0702030404030204"/>
                  <a:cs typeface="Calibri (MS)" panose="020F0502020204030204" charset="0"/>
                  <a:sym typeface="Calibri (MS) Bold" panose="020F0702030404030204"/>
                </a:rPr>
                <a:t>COURSE: </a:t>
              </a:r>
              <a:r>
                <a:rPr lang="en-US" sz="3600" dirty="0">
                  <a:solidFill>
                    <a:srgbClr val="000000"/>
                  </a:solidFill>
                  <a:latin typeface="Calibri (MS)" panose="020F0502020204030204" charset="0"/>
                  <a:ea typeface="Calibri (MS) Bold" panose="020F0702030404030204"/>
                  <a:cs typeface="Calibri (MS)" panose="020F0502020204030204" charset="0"/>
                  <a:sym typeface="Calibri (MS)" panose="020F0502020204030204"/>
                </a:rPr>
                <a:t>  Software Engineering</a:t>
              </a:r>
              <a:endParaRPr lang="en-US" sz="3600" dirty="0">
                <a:solidFill>
                  <a:srgbClr val="000000"/>
                </a:solidFill>
                <a:latin typeface="Calibri (MS)" panose="020F0502020204030204" charset="0"/>
                <a:ea typeface="Calibri (MS) Bold" panose="020F0702030404030204"/>
                <a:cs typeface="Calibri (MS)" panose="020F0502020204030204" charset="0"/>
                <a:sym typeface="Calibri (MS)" panose="020F0502020204030204"/>
              </a:endParaRPr>
            </a:p>
            <a:p>
              <a:pPr algn="ctr">
                <a:lnSpc>
                  <a:spcPct val="100000"/>
                </a:lnSpc>
              </a:pPr>
              <a:endParaRPr lang="en-US" sz="3600" b="1" dirty="0">
                <a:solidFill>
                  <a:srgbClr val="000000"/>
                </a:solidFill>
                <a:latin typeface="Calibri (MS)" panose="020F0502020204030204" charset="0"/>
                <a:ea typeface="Calibri (MS) Bold" panose="020F0702030404030204"/>
                <a:cs typeface="Calibri (MS)" panose="020F0502020204030204" charset="0"/>
                <a:sym typeface="Calibri (MS)" panose="020F0502020204030204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3600" b="1" dirty="0">
                  <a:solidFill>
                    <a:srgbClr val="000000"/>
                  </a:solidFill>
                  <a:latin typeface="Calibri (MS)" panose="020F0502020204030204" charset="0"/>
                  <a:ea typeface="Calibri (MS) Bold" panose="020F0702030404030204"/>
                  <a:cs typeface="Calibri (MS)" panose="020F0502020204030204" charset="0"/>
                  <a:sym typeface="Calibri (MS) Bold" panose="020F0702030404030204"/>
                </a:rPr>
                <a:t>COURSE CODE: CSA1014</a:t>
              </a:r>
              <a:endParaRPr lang="en-US" sz="3600" dirty="0">
                <a:solidFill>
                  <a:srgbClr val="000000"/>
                </a:solidFill>
                <a:latin typeface="Calibri (MS)" panose="020F0502020204030204" charset="0"/>
                <a:ea typeface="Calibri (MS)" panose="020F0502020204030204"/>
                <a:cs typeface="Calibri (MS)" panose="020F0502020204030204" charset="0"/>
                <a:sym typeface="Calibri (MS)" panose="020F0502020204030204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616327" y="538680"/>
            <a:ext cx="13055346" cy="1679788"/>
            <a:chOff x="0" y="0"/>
            <a:chExt cx="17407128" cy="22397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407128" cy="2239772"/>
            </a:xfrm>
            <a:custGeom>
              <a:avLst/>
              <a:gdLst/>
              <a:ahLst/>
              <a:cxnLst/>
              <a:rect l="l" t="t" r="r" b="b"/>
              <a:pathLst>
                <a:path w="17407128" h="2239772">
                  <a:moveTo>
                    <a:pt x="0" y="0"/>
                  </a:moveTo>
                  <a:lnTo>
                    <a:pt x="17407128" y="0"/>
                  </a:lnTo>
                  <a:lnTo>
                    <a:pt x="17407128" y="2239772"/>
                  </a:lnTo>
                  <a:lnTo>
                    <a:pt x="0" y="2239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992120" y="6824537"/>
            <a:ext cx="6675120" cy="1292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GUIDED BY: </a:t>
            </a:r>
            <a:endParaRPr lang="en-US" sz="3600" b="1" dirty="0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5040"/>
              </a:lnSpc>
            </a:pPr>
            <a:r>
              <a:rPr lang="en-US" sz="36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DR. Arivukarasi  M</a:t>
            </a:r>
            <a:endParaRPr lang="en-US" sz="3600" dirty="0">
              <a:solidFill>
                <a:srgbClr val="000000"/>
              </a:solidFill>
              <a:latin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620760" y="6201001"/>
            <a:ext cx="6675120" cy="251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5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PRESENTED BY:</a:t>
            </a:r>
            <a:endParaRPr lang="en-US" sz="3600" b="1" dirty="0">
              <a:solidFill>
                <a:srgbClr val="000000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ctr">
              <a:lnSpc>
                <a:spcPts val="4895"/>
              </a:lnSpc>
            </a:pPr>
            <a:r>
              <a:rPr lang="en-US" sz="36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VIMALA K (192424276)</a:t>
            </a:r>
            <a:endParaRPr lang="en-US" sz="3600" dirty="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4895"/>
              </a:lnSpc>
            </a:pPr>
            <a:r>
              <a:rPr lang="en-US" sz="36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JOTHIKA S U(192524122) </a:t>
            </a:r>
            <a:endParaRPr lang="en-US" sz="3600" dirty="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ctr">
              <a:lnSpc>
                <a:spcPts val="4895"/>
              </a:lnSpc>
            </a:pPr>
            <a:r>
              <a:rPr lang="en-US" sz="3600" dirty="0">
                <a:solidFill>
                  <a:srgbClr val="000000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</a:t>
            </a:r>
            <a:endParaRPr lang="en-US" sz="3600" dirty="0">
              <a:solidFill>
                <a:srgbClr val="000000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00" y="114459"/>
            <a:ext cx="15811500" cy="2421574"/>
            <a:chOff x="-50800" y="-577638"/>
            <a:chExt cx="21082000" cy="32287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50800" y="-577638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sz="6600" b="1" spc="-4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Introduction</a:t>
              </a:r>
              <a:endParaRPr lang="en-US" sz="6600" b="1" spc="-4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9110" y="2247900"/>
            <a:ext cx="16836390" cy="678116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Inventory and Sales Management Systems (ISMS) are software applications that help businesses track stock levels, orders, sales, and deliveries in real time.</a:t>
            </a:r>
            <a:endParaRPr lang="en-US" altLang="en-US" sz="32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Manual or spreadsheet-based inventory tracking is error-prone, time-consuming, and does not scale with business growth.</a:t>
            </a:r>
            <a:endParaRPr lang="en-US" altLang="en-US" sz="32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This project applies modern software engineering practices — requirement analysis, modular design, version control, testing, and agile methodology — to build a robust, scalable, and maintainable ISMS.</a:t>
            </a:r>
            <a:endParaRPr lang="en-US" altLang="en-US" sz="32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The system aims to bridge the gap between inventory control and sales operations by integrating them into a single unified platform.</a:t>
            </a:r>
            <a:endParaRPr lang="en-US" altLang="en-US" sz="32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350520"/>
            <a:ext cx="15773400" cy="1605915"/>
            <a:chOff x="0" y="0"/>
            <a:chExt cx="21031200" cy="2651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600" b="1" spc="-4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Objective</a:t>
              </a:r>
              <a:endParaRPr lang="en-US" altLang="en-US" sz="6600" b="1" spc="-4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40180" y="2096770"/>
            <a:ext cx="15590520" cy="70726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To design and develop a web-based Inventory and Sales Management System that automates stock tracking and sales recording.</a:t>
            </a:r>
            <a:endParaRPr lang="en-US" altLang="en-US" sz="36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To apply software engineering principles (SDLC, modular architecture, testing, version control) throughout development.</a:t>
            </a:r>
            <a:endParaRPr lang="en-US" altLang="en-US" sz="36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To reduce human error and manual effort in inventory and billing processes.</a:t>
            </a:r>
            <a:endParaRPr lang="en-US" altLang="en-US" sz="36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To generate real-time reports on stock levels, sales trends, and profit/loss.</a:t>
            </a:r>
            <a:endParaRPr lang="en-US" altLang="en-US" sz="36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To ensure the system is scalable, secure, and user-friendly for small and medium businesses.</a:t>
            </a:r>
            <a:endParaRPr lang="en-US" altLang="en-US" sz="360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159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7300" y="547688"/>
            <a:ext cx="15773400" cy="1988345"/>
            <a:chOff x="0" y="0"/>
            <a:chExt cx="21031200" cy="2651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sz="6600" b="1" spc="-4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Problem Statement</a:t>
              </a:r>
              <a:endParaRPr lang="en-US" sz="6600" b="1" spc="-4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85800" y="1943100"/>
            <a:ext cx="16916400" cy="63614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951230" lvl="1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Many small and medium-sized businesses still rely on manual registers or basic spreadsheets to manage inventory and sales.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951230" lvl="1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This leads to: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2322830" lvl="4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Frequent stock mismatches (overstocking or stockouts)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2322830" lvl="4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Delayed and inaccurate sales reporting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2322830" lvl="4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No real-time visibility into inventory status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2322830" lvl="4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Difficulty in tracking supplier and customer transactions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2322830" lvl="4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Increased chances of human error in billing and record-keeping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  <a:p>
            <a:pPr marL="951230" lvl="1" indent="-571500" algn="l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ea typeface="Calibri (MS)" panose="020F0502020204030204"/>
                <a:cs typeface="Times New Roman" panose="02020603050405020304" charset="0"/>
                <a:sym typeface="Calibri (MS)" panose="020F0502020204030204"/>
              </a:rPr>
              <a:t>There is a need for an integrated, automated system that applies proper software engineering methodology to ensure reliability, maintainability, and ease of use.</a:t>
            </a:r>
            <a:endParaRPr lang="en-US" altLang="en-US" sz="3600" dirty="0">
              <a:latin typeface="Times New Roman" panose="02020603050405020304" charset="0"/>
              <a:ea typeface="Calibri (MS)" panose="020F0502020204030204"/>
              <a:cs typeface="Times New Roman" panose="02020603050405020304" charset="0"/>
              <a:sym typeface="Calibri (MS)" panose="020F050202020403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00" y="114176"/>
            <a:ext cx="15773400" cy="1988345"/>
            <a:chOff x="0" y="0"/>
            <a:chExt cx="21031200" cy="2651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000" b="1" spc="-4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Literature Review</a:t>
              </a:r>
              <a:endParaRPr lang="en-US" altLang="en-US" sz="6000" b="1" spc="-4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graphicFrame>
        <p:nvGraphicFramePr>
          <p:cNvPr id="7" name="Table 6"/>
          <p:cNvGraphicFramePr/>
          <p:nvPr>
            <p:custDataLst>
              <p:tags r:id="rId2"/>
            </p:custDataLst>
          </p:nvPr>
        </p:nvGraphicFramePr>
        <p:xfrm>
          <a:off x="279400" y="1866900"/>
          <a:ext cx="17774920" cy="806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6975"/>
                <a:gridCol w="2569210"/>
                <a:gridCol w="6046470"/>
                <a:gridCol w="6692265"/>
              </a:tblGrid>
              <a:tr h="975360">
                <a:tc>
                  <a:txBody>
                    <a:bodyPr/>
                    <a:p>
                      <a:pPr algn="ctr"/>
                      <a:r>
                        <a:rPr sz="28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Year</a:t>
                      </a:r>
                      <a:endParaRPr sz="28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8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Author(s)</a:t>
                      </a:r>
                      <a:endParaRPr sz="28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8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Title</a:t>
                      </a:r>
                      <a:endParaRPr sz="28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800">
                          <a:gradFill>
                            <a:gsLst>
                              <a:gs pos="50000">
                                <a:schemeClr val="tx1"/>
                              </a:gs>
                              <a:gs pos="0">
                                <a:schemeClr val="tx1">
                                  <a:lumMod val="25000"/>
                                  <a:lumOff val="7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</a:schemeClr>
                              </a:gs>
                            </a:gsLst>
                            <a:lin ang="5400000" scaled="1"/>
                          </a:gradFill>
                          <a:latin typeface="Times New Roman" panose="02020603050405020304" charset="0"/>
                          <a:cs typeface="Times New Roman" panose="02020603050405020304" charset="0"/>
                        </a:rPr>
                        <a:t>Key Contribution</a:t>
                      </a:r>
                      <a:endParaRPr sz="2800">
                        <a:gradFill>
                          <a:gsLst>
                            <a:gs pos="50000">
                              <a:schemeClr val="tx1"/>
                            </a:gs>
                            <a:gs pos="0">
                              <a:schemeClr val="tx1">
                                <a:lumMod val="25000"/>
                                <a:lumOff val="75000"/>
                              </a:schemeClr>
                            </a:gs>
                            <a:gs pos="100000">
                              <a:schemeClr val="tx1">
                                <a:lumMod val="85000"/>
                              </a:schemeClr>
                            </a:gs>
                          </a:gsLst>
                          <a:lin ang="5400000" scaled="1"/>
                        </a:gra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10335"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2026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Guseva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lang="en-US"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  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Applying Machine Learning Techniques to Manage Inventory in Retail Stores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 combining traditional time-series methods with LSTM-based machine learning for retail demand forecasting, helping improve inventory planning in complex market conditions. (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  <a:hlinkClick r:id="rId3" tooltip="(PDF) APPLYING MACHINE LEARNING TECHNIQUES TO MANAGE INVENTORY IN RETAIL STORES"/>
                        </a:rPr>
                        <a:t>ResearchGate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  <a:hlinkClick r:id="rId3" tooltip="(PDF) APPLYING MACHINE LEARNING TECHNIQUES TO MANAGE INVENTORY IN RETAIL STORES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44625"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2025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Bhatt &amp; Nahar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Smart Retail Inventory Management Using AI-Driven IoT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 an inventory framework integrating AI, IoT, RFID, and cloud computing for real-time inventory tracking, demand forecasting, stock optimization, and automated decision-making. (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  <a:hlinkClick r:id="rId4" tooltip="Smart Retail Inventory Management Using AI-Driven IoT. | EBSCOhost"/>
                        </a:rPr>
                        <a:t>EBSCO OpenURL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  <a:hlinkClick r:id="rId4" tooltip="Smart Retail Inventory Management Using AI-Driven IoT. | EBSCOhost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27480"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2024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Ramachandran et al.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Improving Retail Industry Inventory Management Using Machine Learning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Applied machine-learning algorithms to retail inventory management and demonstrated how data-driven approaches can improve inventory planning and management efficiency. (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  <a:hlinkClick r:id="rId5" tooltip="(PDF) Improving Retail Industry Inventory Management Using Machine Learning"/>
                        </a:rPr>
                        <a:t>ResearchGate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  <a:hlinkClick r:id="rId5" tooltip="(PDF) Improving Retail Industry Inventory Management Using Machine Learning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527175"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2023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Aguirregabiria &amp; Guiton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Decentralized Decision-Making in Retail Chains: Evidence from Inventory Management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Studied inventory decisions across retail stores and showed the importance of timely information and coordinated inventory decision-making for reducing management costs. (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  <a:hlinkClick r:id="rId6" tooltip="Decentralized Decision-Making in Retail Chains: Evidence from Inventory Management"/>
                        </a:rPr>
                        <a:t>arXiv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  <a:hlinkClick r:id="rId6" tooltip="Decentralized Decision-Making in Retail Chains: Evidence from Inventory Management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276985"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2022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Zietsman &amp; van Vuuren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A Generic Framework for Decision Support in Retail Inventory Management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just"/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Proposed an integrated framework covering product segmentation, demand forecasting, and replenishment decisions, highlighting the need for computerized decision-support systems in modern inventory management. (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  <a:hlinkClick r:id="rId7" tooltip="A generic framework for decision support in retail inventory management"/>
                        </a:rPr>
                        <a:t>arXiv</a:t>
                      </a:r>
                      <a:r>
                        <a:rPr sz="1800">
                          <a:latin typeface="Times New Roman" panose="02020603050405020304" charset="0"/>
                          <a:cs typeface="Times New Roman" panose="02020603050405020304" charset="0"/>
                        </a:rPr>
                        <a:t>)</a:t>
                      </a:r>
                      <a:endParaRPr sz="1800">
                        <a:latin typeface="Times New Roman" panose="02020603050405020304" charset="0"/>
                        <a:cs typeface="Times New Roman" panose="02020603050405020304" charset="0"/>
                        <a:hlinkClick r:id="rId7" tooltip="A generic framework for decision support in retail inventory management"/>
                      </a:endParaRPr>
                    </a:p>
                  </a:txBody>
                  <a:tcPr marL="0" marR="0" marT="0" marB="0" anchor="ctr" anchorCtr="0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95400" y="-343024"/>
            <a:ext cx="15773400" cy="1988345"/>
            <a:chOff x="0" y="0"/>
            <a:chExt cx="21031200" cy="265112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66675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000" b="1" spc="-4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Archietecture Diagram</a:t>
              </a:r>
              <a:endParaRPr lang="en-US" altLang="en-US" sz="6000" b="1" spc="-4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t="6432"/>
          <a:stretch>
            <a:fillRect/>
          </a:stretch>
        </p:blipFill>
        <p:spPr>
          <a:xfrm>
            <a:off x="762000" y="1210310"/>
            <a:ext cx="17061180" cy="881253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38332"/>
            <a:ext cx="15849600" cy="2337380"/>
            <a:chOff x="0" y="-465380"/>
            <a:chExt cx="21132800" cy="3116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465380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600" b="1" spc="-4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Module 1: User Interface &amp; Interaction </a:t>
              </a:r>
              <a:endParaRPr lang="en-US" altLang="en-US" sz="6600" b="1" spc="-4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1447800" y="2143573"/>
            <a:ext cx="15773400" cy="710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4400" b="1" dirty="0">
                <a:latin typeface="Times New Roman" panose="02020603050405020304" charset="0"/>
                <a:cs typeface="Times New Roman" panose="02020603050405020304" charset="0"/>
              </a:rPr>
              <a:t>Covers everything the user directly sees and interacts with on screen.</a:t>
            </a:r>
            <a:endParaRPr lang="en-US" altLang="en-US" sz="4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4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Login/logout interface with role-based views (Admin, Manager, Staff)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Product listing, stock display, and category browsing screens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Billing/invoicing interface for sales entry and discount handling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Customer-facing forms (add/search customers, view purchase history)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Dashboards for sales reports, stock reports, and profit/loss visualization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Real-time notifications and low-stock alert pop-ups.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3810000" y="4527646"/>
            <a:ext cx="9296400" cy="1383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MS)" panose="020F0502020204030204" charset="0"/>
              <a:cs typeface="Calibri (MS)" panose="020F0502020204030204" charset="0"/>
            </a:endParaRPr>
          </a:p>
          <a:p>
            <a:pPr marL="857250" marR="0" lvl="0" indent="-8572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 (MS)" panose="020F0502020204030204" charset="0"/>
              <a:cs typeface="Calibri (MS)" panose="020F05020202040302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70535"/>
            <a:ext cx="16962120" cy="1038796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38332"/>
            <a:ext cx="15849600" cy="2337380"/>
            <a:chOff x="0" y="-465380"/>
            <a:chExt cx="21132800" cy="3116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465380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600" b="1" spc="-4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Module 2: Core Processing &amp; Data Management Module </a:t>
              </a:r>
              <a:endParaRPr lang="en-US" altLang="en-US" sz="6600" b="1" spc="-4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1066800" y="2247713"/>
            <a:ext cx="15773400" cy="7939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4400" b="1" dirty="0">
                <a:latin typeface="Times New Roman" panose="02020603050405020304" charset="0"/>
                <a:cs typeface="Times New Roman" panose="02020603050405020304" charset="0"/>
              </a:rPr>
              <a:t>Covers all the processing, storage, and business logic working behind the scenes.</a:t>
            </a:r>
            <a:endParaRPr lang="en-US" altLang="en-US" sz="4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indent="0" algn="just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en-US" sz="44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Authentication &amp; authorization logic (role validation, session management)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Inventory logic — add/update/delete products, stock level calculations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Sales processing logic — order calculations, invoice generation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Supplier &amp; purchase order management, restocking logic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Database management — centralized storage, backup, and retrieval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Report generation logic and analytics computation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600" dirty="0">
                <a:latin typeface="Times New Roman" panose="02020603050405020304" charset="0"/>
                <a:cs typeface="Times New Roman" panose="02020603050405020304" charset="0"/>
              </a:rPr>
              <a:t>Notification-triggering logic (low-stock thresholds, order confirmations)</a:t>
            </a:r>
            <a:endParaRPr lang="en-US" altLang="en-US" sz="36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Freeform 4"/>
          <p:cNvSpPr/>
          <p:nvPr/>
        </p:nvSpPr>
        <p:spPr>
          <a:xfrm>
            <a:off x="2514600" y="7625715"/>
            <a:ext cx="15773400" cy="1988185"/>
          </a:xfrm>
          <a:custGeom>
            <a:avLst/>
            <a:gdLst/>
            <a:ahLst/>
            <a:cxnLst/>
            <a:rect l="l" t="t" r="r" b="b"/>
            <a:pathLst>
              <a:path w="21031200" h="2651126">
                <a:moveTo>
                  <a:pt x="0" y="0"/>
                </a:moveTo>
                <a:lnTo>
                  <a:pt x="21031200" y="0"/>
                </a:lnTo>
                <a:lnTo>
                  <a:pt x="21031200" y="2651126"/>
                </a:lnTo>
                <a:lnTo>
                  <a:pt x="0" y="26511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l="22917" t="65625" b="-781"/>
          <a:stretch>
            <a:fillRect/>
          </a:stretch>
        </p:blipFill>
        <p:spPr>
          <a:xfrm>
            <a:off x="-1778000" y="882650"/>
            <a:ext cx="18872835" cy="792035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549304"/>
            <a:ext cx="15793278" cy="2239141"/>
            <a:chOff x="0" y="304264"/>
            <a:chExt cx="21057704" cy="2985521"/>
          </a:xfrm>
        </p:grpSpPr>
        <p:sp>
          <p:nvSpPr>
            <p:cNvPr id="4" name="Freeform 4"/>
            <p:cNvSpPr/>
            <p:nvPr/>
          </p:nvSpPr>
          <p:spPr>
            <a:xfrm>
              <a:off x="0" y="638659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6504" y="304264"/>
              <a:ext cx="21031200" cy="2584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sz="6600" b="1" spc="-40" dirty="0">
                  <a:solidFill>
                    <a:srgbClr val="000000"/>
                  </a:solidFill>
                  <a:latin typeface="TT Rounds Condensed Bold" panose="02000806030000020003"/>
                  <a:ea typeface="TT Rounds Condensed Bold" panose="02000806030000020003"/>
                  <a:cs typeface="TT Rounds Condensed Bold" panose="02000806030000020003"/>
                  <a:sym typeface="TT Rounds Condensed Bold" panose="02000806030000020003"/>
                </a:rPr>
                <a:t> </a:t>
              </a:r>
              <a:endParaRPr lang="en-US" sz="6600" b="1" spc="-40" dirty="0">
                <a:solidFill>
                  <a:srgbClr val="000000"/>
                </a:solidFill>
                <a:latin typeface="TT Rounds Condensed Bold" panose="02000806030000020003"/>
                <a:ea typeface="TT Rounds Condensed Bold" panose="02000806030000020003"/>
                <a:cs typeface="TT Rounds Condensed Bold" panose="02000806030000020003"/>
                <a:sym typeface="TT Rounds Condensed Bold" panose="02000806030000020003"/>
              </a:endParaRPr>
            </a:p>
          </p:txBody>
        </p:sp>
      </p:grpSp>
      <p:sp>
        <p:nvSpPr>
          <p:cNvPr id="9" name="Text Box 8"/>
          <p:cNvSpPr txBox="1"/>
          <p:nvPr/>
        </p:nvSpPr>
        <p:spPr>
          <a:xfrm>
            <a:off x="7010400" y="952500"/>
            <a:ext cx="41382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5400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Tools Used</a:t>
            </a:r>
            <a:endParaRPr lang="en-US" altLang="en-US" sz="5400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75" y="2179320"/>
            <a:ext cx="16443325" cy="97536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666115" y="419129"/>
            <a:ext cx="15793278" cy="2239141"/>
            <a:chOff x="0" y="304264"/>
            <a:chExt cx="21057704" cy="2985521"/>
          </a:xfrm>
        </p:grpSpPr>
        <p:sp>
          <p:nvSpPr>
            <p:cNvPr id="4" name="Freeform 4"/>
            <p:cNvSpPr/>
            <p:nvPr/>
          </p:nvSpPr>
          <p:spPr>
            <a:xfrm>
              <a:off x="0" y="638659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26504" y="304264"/>
              <a:ext cx="21031200" cy="2584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sz="6600" b="1" spc="-40" dirty="0">
                  <a:solidFill>
                    <a:srgbClr val="000000"/>
                  </a:solidFill>
                  <a:latin typeface="TT Rounds Condensed Bold" panose="02000806030000020003"/>
                  <a:ea typeface="TT Rounds Condensed Bold" panose="02000806030000020003"/>
                  <a:cs typeface="TT Rounds Condensed Bold" panose="02000806030000020003"/>
                  <a:sym typeface="TT Rounds Condensed Bold" panose="02000806030000020003"/>
                </a:rPr>
                <a:t> </a:t>
              </a:r>
              <a:endParaRPr lang="en-US" sz="6600" b="1" spc="-40" dirty="0">
                <a:solidFill>
                  <a:srgbClr val="000000"/>
                </a:solidFill>
                <a:latin typeface="TT Rounds Condensed Bold" panose="02000806030000020003"/>
                <a:ea typeface="TT Rounds Condensed Bold" panose="02000806030000020003"/>
                <a:cs typeface="TT Rounds Condensed Bold" panose="02000806030000020003"/>
                <a:sym typeface="TT Rounds Condensed Bold" panose="02000806030000020003"/>
              </a:endParaRPr>
            </a:p>
          </p:txBody>
        </p:sp>
      </p:grpSp>
      <p:sp>
        <p:nvSpPr>
          <p:cNvPr id="9" name="Text Box 8"/>
          <p:cNvSpPr txBox="1"/>
          <p:nvPr/>
        </p:nvSpPr>
        <p:spPr>
          <a:xfrm>
            <a:off x="6201410" y="952500"/>
            <a:ext cx="68757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sz="5400" b="1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Scope OF System</a:t>
            </a:r>
            <a:endParaRPr lang="en-US" altLang="en-US" sz="5400" b="1">
              <a:solidFill>
                <a:schemeClr val="accent2">
                  <a:lumMod val="75000"/>
                </a:schemeClr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 b="22016"/>
          <a:stretch>
            <a:fillRect/>
          </a:stretch>
        </p:blipFill>
        <p:spPr>
          <a:xfrm>
            <a:off x="1711960" y="2552700"/>
            <a:ext cx="15452090" cy="78073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38200" y="535367"/>
            <a:ext cx="16078200" cy="6825078"/>
            <a:chOff x="0" y="285682"/>
            <a:chExt cx="21437600" cy="9100102"/>
          </a:xfrm>
        </p:grpSpPr>
        <p:sp>
          <p:nvSpPr>
            <p:cNvPr id="4" name="Freeform 4"/>
            <p:cNvSpPr/>
            <p:nvPr/>
          </p:nvSpPr>
          <p:spPr>
            <a:xfrm>
              <a:off x="406400" y="6734658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682"/>
              <a:ext cx="21031200" cy="25844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altLang="en-US" sz="6600" b="1" spc="-4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Expected Results</a:t>
              </a:r>
              <a:endParaRPr lang="en-US" altLang="en-US" sz="6600" b="1" spc="-4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27" name="Rectangle 20"/>
          <p:cNvSpPr>
            <a:spLocks noChangeArrowheads="1"/>
          </p:cNvSpPr>
          <p:nvPr/>
        </p:nvSpPr>
        <p:spPr bwMode="auto">
          <a:xfrm>
            <a:off x="1143000" y="2774200"/>
            <a:ext cx="15773400" cy="673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A fully functional Inventory and Sales Management System with real-time stock tracking and automated billing.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Reduced manual errors in inventory and sales data entry.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Improved decision-making through analytical dashboards and reports.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A scalable system architecture that follows modular software engineering design, allowing easy future enhancements.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Faster processing of sales transactions and inventory updates compared to manual methods.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ea typeface="SimSun-ExtG" panose="02010609060101010101" pitchFamily="49" charset="-122"/>
                <a:cs typeface="Times New Roman" panose="02020603050405020304" charset="0"/>
              </a:rPr>
              <a:t>Positive usability feedback from test users (business owners/staff) regarding ease of use and efficiency.</a:t>
            </a:r>
            <a:endParaRPr lang="en-US" altLang="en-US" sz="3200" b="0" i="0" dirty="0">
              <a:effectLst/>
              <a:latin typeface="Times New Roman" panose="02020603050405020304" charset="0"/>
              <a:ea typeface="SimSun-ExtG" panose="02010609060101010101" pitchFamily="49" charset="-122"/>
              <a:cs typeface="Times New Roman" panose="0202060305040502030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211" b="-921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7361" y="419100"/>
            <a:ext cx="15783339" cy="2116933"/>
            <a:chOff x="-13252" y="-171451"/>
            <a:chExt cx="21044452" cy="28225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-13252" y="-171451"/>
              <a:ext cx="21031200" cy="25844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30"/>
                </a:lnSpc>
              </a:pPr>
              <a:r>
                <a:rPr lang="en-US" sz="6000" b="1" spc="-4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charset="0"/>
                  <a:ea typeface="TT Rounds Condensed Bold" panose="02000806030000020003"/>
                  <a:cs typeface="Times New Roman" panose="02020603050405020304" charset="0"/>
                  <a:sym typeface="TT Rounds Condensed Bold" panose="02000806030000020003"/>
                </a:rPr>
                <a:t>References</a:t>
              </a:r>
              <a:endParaRPr lang="en-US" sz="6000" b="1" spc="-4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charset="0"/>
                <a:ea typeface="TT Rounds Condensed Bold" panose="02000806030000020003"/>
                <a:cs typeface="Times New Roman" panose="02020603050405020304" charset="0"/>
                <a:sym typeface="TT Rounds Condensed Bold" panose="02000806030000020003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33400" y="1966099"/>
            <a:ext cx="17297400" cy="8125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IN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Guseva, A. (2026). Applying Machine Learning Techniques to Manage Inventory in Retail Stores. ResearchGate.</a:t>
            </a:r>
            <a:endParaRPr lang="en-US" altLang="en-US" sz="32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Bhatt, S., &amp; Nahar, P. (2025). Smart Retail Inventory Management Using AI-Driven IoT. Journal of Supply Chain Management and Systems.</a:t>
            </a:r>
            <a:endParaRPr lang="en-US" altLang="en-US" sz="32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Ramachandran, K. K., Karthick, K. K., Nalla Bala Kalyan, &amp; Tiwari, M. (2024). Improving Retail Industry Inventory Management Using Machine Learning. CRC Press, Recent Technological Advances in Engineering and Management.</a:t>
            </a:r>
            <a:endParaRPr lang="en-US" altLang="en-US" sz="32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Ganguly, P., &amp; Mukherjee, I. (2024). Enhancing Retail Sales Forecasting with Optimized Machine Learning Models. arXiv.</a:t>
            </a:r>
            <a:endParaRPr lang="en-US" altLang="en-US" sz="32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3200" b="0" i="0" dirty="0">
                <a:effectLst/>
                <a:latin typeface="Times New Roman" panose="02020603050405020304" charset="0"/>
                <a:cs typeface="Times New Roman" panose="02020603050405020304" charset="0"/>
              </a:rPr>
              <a:t>Zietsman, H. J., &amp; van Vuuren, J. H. (2022). A Generic Framework for Decision Support in Retail Inventory Management. arXiv.</a:t>
            </a:r>
            <a:endParaRPr lang="en-US" altLang="en-US" sz="3200" b="0" i="0" dirty="0"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399*634"/>
  <p:tag name="TABLE_ENDDRAG_RECT" val="22*147*1399*63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5785</Words>
  <Application>WPS Presentation</Application>
  <PresentationFormat>Custom</PresentationFormat>
  <Paragraphs>142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Calibri (MS) Bold</vt:lpstr>
      <vt:lpstr>Calibri (MS)</vt:lpstr>
      <vt:lpstr>Calibri (MS)</vt:lpstr>
      <vt:lpstr>TT Rounds Condensed Bold</vt:lpstr>
      <vt:lpstr>Wingdings</vt:lpstr>
      <vt:lpstr>SimSun-ExtG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Prediction Model.pptx</dc:title>
  <dc:creator>Dhanyashree</dc:creator>
  <cp:lastModifiedBy>Vimala Kv</cp:lastModifiedBy>
  <cp:revision>26</cp:revision>
  <dcterms:created xsi:type="dcterms:W3CDTF">2006-08-16T00:00:00Z</dcterms:created>
  <dcterms:modified xsi:type="dcterms:W3CDTF">2026-08-31T02:36:19Z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BB554C9638AE4080B58101982B328235_13</vt:lpwstr>
  </property>
  <property fmtid="{D5CDD505-2E9C-101B-9397-08002B2CF9AE}" pid="3" name="KSOProductBuildVer">
    <vt:lpwstr>1033-12.1.0.28485</vt:lpwstr>
  </property>
</Properties>
</file>